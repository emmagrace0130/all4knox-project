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7" r:id="rId5"/>
    <p:sldId id="258"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A1D36F-A98B-4B51-0EC8-C26DF8ED5FEC}" v="186" dt="2026-03-25T18:03:42.4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105" d="100"/>
          <a:sy n="105" d="100"/>
        </p:scale>
        <p:origin x="72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5ACFD-63DC-D68B-DA2E-F1BDDB2573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8B399F4-9897-592E-05B0-9E3FEADB14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FA287F1-9026-63CB-693A-5EE1AEFC96D5}"/>
              </a:ext>
            </a:extLst>
          </p:cNvPr>
          <p:cNvSpPr>
            <a:spLocks noGrp="1"/>
          </p:cNvSpPr>
          <p:nvPr>
            <p:ph type="dt" sz="half" idx="10"/>
          </p:nvPr>
        </p:nvSpPr>
        <p:spPr/>
        <p:txBody>
          <a:bodyPr/>
          <a:lstStyle/>
          <a:p>
            <a:fld id="{254F3023-50C0-4ADB-A2F9-F297B4C75241}" type="datetimeFigureOut">
              <a:rPr lang="en-US" smtClean="0"/>
              <a:t>5/27/2026</a:t>
            </a:fld>
            <a:endParaRPr lang="en-US"/>
          </a:p>
        </p:txBody>
      </p:sp>
      <p:sp>
        <p:nvSpPr>
          <p:cNvPr id="5" name="Footer Placeholder 4">
            <a:extLst>
              <a:ext uri="{FF2B5EF4-FFF2-40B4-BE49-F238E27FC236}">
                <a16:creationId xmlns:a16="http://schemas.microsoft.com/office/drawing/2014/main" id="{359773EA-0914-94BA-1CD2-C50D5795EB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412DA6-90CF-CCA8-D065-467CA3A5E390}"/>
              </a:ext>
            </a:extLst>
          </p:cNvPr>
          <p:cNvSpPr>
            <a:spLocks noGrp="1"/>
          </p:cNvSpPr>
          <p:nvPr>
            <p:ph type="sldNum" sz="quarter" idx="12"/>
          </p:nvPr>
        </p:nvSpPr>
        <p:spPr/>
        <p:txBody>
          <a:bodyPr/>
          <a:lstStyle/>
          <a:p>
            <a:fld id="{B5205703-FF35-4FF9-9E39-E729B2A44C97}" type="slidenum">
              <a:rPr lang="en-US" smtClean="0"/>
              <a:t>‹#›</a:t>
            </a:fld>
            <a:endParaRPr lang="en-US"/>
          </a:p>
        </p:txBody>
      </p:sp>
    </p:spTree>
    <p:extLst>
      <p:ext uri="{BB962C8B-B14F-4D97-AF65-F5344CB8AC3E}">
        <p14:creationId xmlns:p14="http://schemas.microsoft.com/office/powerpoint/2010/main" val="2288901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B4E2F-9F74-63E8-1483-45087C98C2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4DEB6F-6D84-43F6-D7BE-3D7C7A1818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06F9A7-325D-C80D-3A1F-5CED7BF867FD}"/>
              </a:ext>
            </a:extLst>
          </p:cNvPr>
          <p:cNvSpPr>
            <a:spLocks noGrp="1"/>
          </p:cNvSpPr>
          <p:nvPr>
            <p:ph type="dt" sz="half" idx="10"/>
          </p:nvPr>
        </p:nvSpPr>
        <p:spPr/>
        <p:txBody>
          <a:bodyPr/>
          <a:lstStyle/>
          <a:p>
            <a:fld id="{254F3023-50C0-4ADB-A2F9-F297B4C75241}" type="datetimeFigureOut">
              <a:rPr lang="en-US" smtClean="0"/>
              <a:t>5/27/2026</a:t>
            </a:fld>
            <a:endParaRPr lang="en-US"/>
          </a:p>
        </p:txBody>
      </p:sp>
      <p:sp>
        <p:nvSpPr>
          <p:cNvPr id="5" name="Footer Placeholder 4">
            <a:extLst>
              <a:ext uri="{FF2B5EF4-FFF2-40B4-BE49-F238E27FC236}">
                <a16:creationId xmlns:a16="http://schemas.microsoft.com/office/drawing/2014/main" id="{9300634C-0022-9D27-C786-5D98A0E411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8C1C09-C112-92AB-D623-0CB9AA44CD30}"/>
              </a:ext>
            </a:extLst>
          </p:cNvPr>
          <p:cNvSpPr>
            <a:spLocks noGrp="1"/>
          </p:cNvSpPr>
          <p:nvPr>
            <p:ph type="sldNum" sz="quarter" idx="12"/>
          </p:nvPr>
        </p:nvSpPr>
        <p:spPr/>
        <p:txBody>
          <a:bodyPr/>
          <a:lstStyle/>
          <a:p>
            <a:fld id="{B5205703-FF35-4FF9-9E39-E729B2A44C97}" type="slidenum">
              <a:rPr lang="en-US" smtClean="0"/>
              <a:t>‹#›</a:t>
            </a:fld>
            <a:endParaRPr lang="en-US"/>
          </a:p>
        </p:txBody>
      </p:sp>
    </p:spTree>
    <p:extLst>
      <p:ext uri="{BB962C8B-B14F-4D97-AF65-F5344CB8AC3E}">
        <p14:creationId xmlns:p14="http://schemas.microsoft.com/office/powerpoint/2010/main" val="446649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E385B-9803-825C-A276-668B3B032E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4A8292-933C-F3C6-B73B-03298C7B9C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F810E2-431B-7FFD-66BF-78D635699DCE}"/>
              </a:ext>
            </a:extLst>
          </p:cNvPr>
          <p:cNvSpPr>
            <a:spLocks noGrp="1"/>
          </p:cNvSpPr>
          <p:nvPr>
            <p:ph type="dt" sz="half" idx="10"/>
          </p:nvPr>
        </p:nvSpPr>
        <p:spPr/>
        <p:txBody>
          <a:bodyPr/>
          <a:lstStyle/>
          <a:p>
            <a:fld id="{254F3023-50C0-4ADB-A2F9-F297B4C75241}" type="datetimeFigureOut">
              <a:rPr lang="en-US" smtClean="0"/>
              <a:t>5/27/2026</a:t>
            </a:fld>
            <a:endParaRPr lang="en-US"/>
          </a:p>
        </p:txBody>
      </p:sp>
      <p:sp>
        <p:nvSpPr>
          <p:cNvPr id="5" name="Footer Placeholder 4">
            <a:extLst>
              <a:ext uri="{FF2B5EF4-FFF2-40B4-BE49-F238E27FC236}">
                <a16:creationId xmlns:a16="http://schemas.microsoft.com/office/drawing/2014/main" id="{DA2F28A0-E2D1-3C98-C624-EB237C20D8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4DEF0C-0BFF-9801-14C6-12794E4EC0E9}"/>
              </a:ext>
            </a:extLst>
          </p:cNvPr>
          <p:cNvSpPr>
            <a:spLocks noGrp="1"/>
          </p:cNvSpPr>
          <p:nvPr>
            <p:ph type="sldNum" sz="quarter" idx="12"/>
          </p:nvPr>
        </p:nvSpPr>
        <p:spPr/>
        <p:txBody>
          <a:bodyPr/>
          <a:lstStyle/>
          <a:p>
            <a:fld id="{B5205703-FF35-4FF9-9E39-E729B2A44C97}" type="slidenum">
              <a:rPr lang="en-US" smtClean="0"/>
              <a:t>‹#›</a:t>
            </a:fld>
            <a:endParaRPr lang="en-US"/>
          </a:p>
        </p:txBody>
      </p:sp>
    </p:spTree>
    <p:extLst>
      <p:ext uri="{BB962C8B-B14F-4D97-AF65-F5344CB8AC3E}">
        <p14:creationId xmlns:p14="http://schemas.microsoft.com/office/powerpoint/2010/main" val="34029319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F6710-7D2D-4071-F299-9B4B05D845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0DDA1A-FDD8-A7AB-08DA-C7A47BAFC0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6FB26-A46C-D66D-6A99-0C7D05E421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3AB2D59-F01D-60A8-CC83-1309F0520BE2}"/>
              </a:ext>
            </a:extLst>
          </p:cNvPr>
          <p:cNvSpPr>
            <a:spLocks noGrp="1"/>
          </p:cNvSpPr>
          <p:nvPr>
            <p:ph type="dt" sz="half" idx="10"/>
          </p:nvPr>
        </p:nvSpPr>
        <p:spPr/>
        <p:txBody>
          <a:bodyPr/>
          <a:lstStyle/>
          <a:p>
            <a:fld id="{254F3023-50C0-4ADB-A2F9-F297B4C75241}" type="datetimeFigureOut">
              <a:rPr lang="en-US" smtClean="0"/>
              <a:t>5/27/2026</a:t>
            </a:fld>
            <a:endParaRPr lang="en-US"/>
          </a:p>
        </p:txBody>
      </p:sp>
      <p:sp>
        <p:nvSpPr>
          <p:cNvPr id="6" name="Footer Placeholder 5">
            <a:extLst>
              <a:ext uri="{FF2B5EF4-FFF2-40B4-BE49-F238E27FC236}">
                <a16:creationId xmlns:a16="http://schemas.microsoft.com/office/drawing/2014/main" id="{3F37B526-6A9E-5939-1C76-2FE1B082C3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FF66E1-F976-FC16-55F4-E593355E796B}"/>
              </a:ext>
            </a:extLst>
          </p:cNvPr>
          <p:cNvSpPr>
            <a:spLocks noGrp="1"/>
          </p:cNvSpPr>
          <p:nvPr>
            <p:ph type="sldNum" sz="quarter" idx="12"/>
          </p:nvPr>
        </p:nvSpPr>
        <p:spPr/>
        <p:txBody>
          <a:bodyPr/>
          <a:lstStyle/>
          <a:p>
            <a:fld id="{B5205703-FF35-4FF9-9E39-E729B2A44C97}" type="slidenum">
              <a:rPr lang="en-US" smtClean="0"/>
              <a:t>‹#›</a:t>
            </a:fld>
            <a:endParaRPr lang="en-US"/>
          </a:p>
        </p:txBody>
      </p:sp>
    </p:spTree>
    <p:extLst>
      <p:ext uri="{BB962C8B-B14F-4D97-AF65-F5344CB8AC3E}">
        <p14:creationId xmlns:p14="http://schemas.microsoft.com/office/powerpoint/2010/main" val="4189987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AA34C-FAD5-4BE5-F86F-481E940F7B2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71EF866-90DD-9AB6-133B-5E28301D1B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979A7A-718E-4CB7-B5F6-2AC6B4474C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4837794-D4CE-E928-552A-D5F4DDB3D4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7E324F-1E27-6EB9-99CC-CE69462285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5E35FE-871A-7E52-4EEB-5107F39B8CDC}"/>
              </a:ext>
            </a:extLst>
          </p:cNvPr>
          <p:cNvSpPr>
            <a:spLocks noGrp="1"/>
          </p:cNvSpPr>
          <p:nvPr>
            <p:ph type="dt" sz="half" idx="10"/>
          </p:nvPr>
        </p:nvSpPr>
        <p:spPr/>
        <p:txBody>
          <a:bodyPr/>
          <a:lstStyle/>
          <a:p>
            <a:fld id="{254F3023-50C0-4ADB-A2F9-F297B4C75241}" type="datetimeFigureOut">
              <a:rPr lang="en-US" smtClean="0"/>
              <a:t>5/27/2026</a:t>
            </a:fld>
            <a:endParaRPr lang="en-US"/>
          </a:p>
        </p:txBody>
      </p:sp>
      <p:sp>
        <p:nvSpPr>
          <p:cNvPr id="8" name="Footer Placeholder 7">
            <a:extLst>
              <a:ext uri="{FF2B5EF4-FFF2-40B4-BE49-F238E27FC236}">
                <a16:creationId xmlns:a16="http://schemas.microsoft.com/office/drawing/2014/main" id="{03169164-1101-586E-34BA-069ED377888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1DF3E1-F10C-2B22-DBE6-3EC6F43D6F4A}"/>
              </a:ext>
            </a:extLst>
          </p:cNvPr>
          <p:cNvSpPr>
            <a:spLocks noGrp="1"/>
          </p:cNvSpPr>
          <p:nvPr>
            <p:ph type="sldNum" sz="quarter" idx="12"/>
          </p:nvPr>
        </p:nvSpPr>
        <p:spPr/>
        <p:txBody>
          <a:bodyPr/>
          <a:lstStyle/>
          <a:p>
            <a:fld id="{B5205703-FF35-4FF9-9E39-E729B2A44C97}" type="slidenum">
              <a:rPr lang="en-US" smtClean="0"/>
              <a:t>‹#›</a:t>
            </a:fld>
            <a:endParaRPr lang="en-US"/>
          </a:p>
        </p:txBody>
      </p:sp>
    </p:spTree>
    <p:extLst>
      <p:ext uri="{BB962C8B-B14F-4D97-AF65-F5344CB8AC3E}">
        <p14:creationId xmlns:p14="http://schemas.microsoft.com/office/powerpoint/2010/main" val="796171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621D6-6DB9-9B13-40F9-F4264DB3515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C810F2-C9EA-7D7D-8DA8-49F4C17B01B1}"/>
              </a:ext>
            </a:extLst>
          </p:cNvPr>
          <p:cNvSpPr>
            <a:spLocks noGrp="1"/>
          </p:cNvSpPr>
          <p:nvPr>
            <p:ph type="dt" sz="half" idx="10"/>
          </p:nvPr>
        </p:nvSpPr>
        <p:spPr/>
        <p:txBody>
          <a:bodyPr/>
          <a:lstStyle/>
          <a:p>
            <a:fld id="{254F3023-50C0-4ADB-A2F9-F297B4C75241}" type="datetimeFigureOut">
              <a:rPr lang="en-US" smtClean="0"/>
              <a:t>5/27/2026</a:t>
            </a:fld>
            <a:endParaRPr lang="en-US"/>
          </a:p>
        </p:txBody>
      </p:sp>
      <p:sp>
        <p:nvSpPr>
          <p:cNvPr id="4" name="Footer Placeholder 3">
            <a:extLst>
              <a:ext uri="{FF2B5EF4-FFF2-40B4-BE49-F238E27FC236}">
                <a16:creationId xmlns:a16="http://schemas.microsoft.com/office/drawing/2014/main" id="{BD74D5D2-7230-7973-B88A-FC6771C84D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A091EE-586E-D160-27D8-6E4487127F8F}"/>
              </a:ext>
            </a:extLst>
          </p:cNvPr>
          <p:cNvSpPr>
            <a:spLocks noGrp="1"/>
          </p:cNvSpPr>
          <p:nvPr>
            <p:ph type="sldNum" sz="quarter" idx="12"/>
          </p:nvPr>
        </p:nvSpPr>
        <p:spPr/>
        <p:txBody>
          <a:bodyPr/>
          <a:lstStyle/>
          <a:p>
            <a:fld id="{B5205703-FF35-4FF9-9E39-E729B2A44C97}" type="slidenum">
              <a:rPr lang="en-US" smtClean="0"/>
              <a:t>‹#›</a:t>
            </a:fld>
            <a:endParaRPr lang="en-US"/>
          </a:p>
        </p:txBody>
      </p:sp>
    </p:spTree>
    <p:extLst>
      <p:ext uri="{BB962C8B-B14F-4D97-AF65-F5344CB8AC3E}">
        <p14:creationId xmlns:p14="http://schemas.microsoft.com/office/powerpoint/2010/main" val="3557885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EDCA33-8EC0-8EDA-DF84-EBAC9A783505}"/>
              </a:ext>
            </a:extLst>
          </p:cNvPr>
          <p:cNvSpPr>
            <a:spLocks noGrp="1"/>
          </p:cNvSpPr>
          <p:nvPr>
            <p:ph type="dt" sz="half" idx="10"/>
          </p:nvPr>
        </p:nvSpPr>
        <p:spPr/>
        <p:txBody>
          <a:bodyPr/>
          <a:lstStyle/>
          <a:p>
            <a:fld id="{254F3023-50C0-4ADB-A2F9-F297B4C75241}" type="datetimeFigureOut">
              <a:rPr lang="en-US" smtClean="0"/>
              <a:t>5/27/2026</a:t>
            </a:fld>
            <a:endParaRPr lang="en-US"/>
          </a:p>
        </p:txBody>
      </p:sp>
      <p:sp>
        <p:nvSpPr>
          <p:cNvPr id="3" name="Footer Placeholder 2">
            <a:extLst>
              <a:ext uri="{FF2B5EF4-FFF2-40B4-BE49-F238E27FC236}">
                <a16:creationId xmlns:a16="http://schemas.microsoft.com/office/drawing/2014/main" id="{F5E497B1-D1E7-4482-B410-9BB0BD395C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C9E0FC-8E88-4CC1-6E9B-CDBB5E8D06A6}"/>
              </a:ext>
            </a:extLst>
          </p:cNvPr>
          <p:cNvSpPr>
            <a:spLocks noGrp="1"/>
          </p:cNvSpPr>
          <p:nvPr>
            <p:ph type="sldNum" sz="quarter" idx="12"/>
          </p:nvPr>
        </p:nvSpPr>
        <p:spPr/>
        <p:txBody>
          <a:bodyPr/>
          <a:lstStyle/>
          <a:p>
            <a:fld id="{B5205703-FF35-4FF9-9E39-E729B2A44C97}" type="slidenum">
              <a:rPr lang="en-US" smtClean="0"/>
              <a:t>‹#›</a:t>
            </a:fld>
            <a:endParaRPr lang="en-US"/>
          </a:p>
        </p:txBody>
      </p:sp>
    </p:spTree>
    <p:extLst>
      <p:ext uri="{BB962C8B-B14F-4D97-AF65-F5344CB8AC3E}">
        <p14:creationId xmlns:p14="http://schemas.microsoft.com/office/powerpoint/2010/main" val="439150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4E4C4-AFEC-ADA4-C913-77C2F81064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03564BC-536E-FA87-972C-924B23E86A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54C379-EF42-0105-3E0E-0C7EE458DD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ED330A-A73C-6A86-A21E-1597E73825FC}"/>
              </a:ext>
            </a:extLst>
          </p:cNvPr>
          <p:cNvSpPr>
            <a:spLocks noGrp="1"/>
          </p:cNvSpPr>
          <p:nvPr>
            <p:ph type="dt" sz="half" idx="10"/>
          </p:nvPr>
        </p:nvSpPr>
        <p:spPr/>
        <p:txBody>
          <a:bodyPr/>
          <a:lstStyle/>
          <a:p>
            <a:fld id="{254F3023-50C0-4ADB-A2F9-F297B4C75241}" type="datetimeFigureOut">
              <a:rPr lang="en-US" smtClean="0"/>
              <a:t>5/27/2026</a:t>
            </a:fld>
            <a:endParaRPr lang="en-US"/>
          </a:p>
        </p:txBody>
      </p:sp>
      <p:sp>
        <p:nvSpPr>
          <p:cNvPr id="6" name="Footer Placeholder 5">
            <a:extLst>
              <a:ext uri="{FF2B5EF4-FFF2-40B4-BE49-F238E27FC236}">
                <a16:creationId xmlns:a16="http://schemas.microsoft.com/office/drawing/2014/main" id="{4E08B058-7B7F-3754-0462-BBC988A191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8680F6-461E-15F6-626C-52543FB6A534}"/>
              </a:ext>
            </a:extLst>
          </p:cNvPr>
          <p:cNvSpPr>
            <a:spLocks noGrp="1"/>
          </p:cNvSpPr>
          <p:nvPr>
            <p:ph type="sldNum" sz="quarter" idx="12"/>
          </p:nvPr>
        </p:nvSpPr>
        <p:spPr/>
        <p:txBody>
          <a:bodyPr/>
          <a:lstStyle/>
          <a:p>
            <a:fld id="{B5205703-FF35-4FF9-9E39-E729B2A44C97}" type="slidenum">
              <a:rPr lang="en-US" smtClean="0"/>
              <a:t>‹#›</a:t>
            </a:fld>
            <a:endParaRPr lang="en-US"/>
          </a:p>
        </p:txBody>
      </p:sp>
    </p:spTree>
    <p:extLst>
      <p:ext uri="{BB962C8B-B14F-4D97-AF65-F5344CB8AC3E}">
        <p14:creationId xmlns:p14="http://schemas.microsoft.com/office/powerpoint/2010/main" val="4270539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E60DB-65ED-6D24-37EA-030BF8F32A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47C031-6B10-B37E-2A8D-6D666A6809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D9F0444-EEBF-DD06-8981-ACCCDAECDD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FE3B06-A284-4504-0381-6F6AB99A4CBA}"/>
              </a:ext>
            </a:extLst>
          </p:cNvPr>
          <p:cNvSpPr>
            <a:spLocks noGrp="1"/>
          </p:cNvSpPr>
          <p:nvPr>
            <p:ph type="dt" sz="half" idx="10"/>
          </p:nvPr>
        </p:nvSpPr>
        <p:spPr/>
        <p:txBody>
          <a:bodyPr/>
          <a:lstStyle/>
          <a:p>
            <a:fld id="{254F3023-50C0-4ADB-A2F9-F297B4C75241}" type="datetimeFigureOut">
              <a:rPr lang="en-US" smtClean="0"/>
              <a:t>5/27/2026</a:t>
            </a:fld>
            <a:endParaRPr lang="en-US"/>
          </a:p>
        </p:txBody>
      </p:sp>
      <p:sp>
        <p:nvSpPr>
          <p:cNvPr id="6" name="Footer Placeholder 5">
            <a:extLst>
              <a:ext uri="{FF2B5EF4-FFF2-40B4-BE49-F238E27FC236}">
                <a16:creationId xmlns:a16="http://schemas.microsoft.com/office/drawing/2014/main" id="{F3A60DE7-9FAF-4B4C-CF3C-BF726768CA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55EEE5-0732-D38F-E149-055264C40B4E}"/>
              </a:ext>
            </a:extLst>
          </p:cNvPr>
          <p:cNvSpPr>
            <a:spLocks noGrp="1"/>
          </p:cNvSpPr>
          <p:nvPr>
            <p:ph type="sldNum" sz="quarter" idx="12"/>
          </p:nvPr>
        </p:nvSpPr>
        <p:spPr/>
        <p:txBody>
          <a:bodyPr/>
          <a:lstStyle/>
          <a:p>
            <a:fld id="{B5205703-FF35-4FF9-9E39-E729B2A44C97}" type="slidenum">
              <a:rPr lang="en-US" smtClean="0"/>
              <a:t>‹#›</a:t>
            </a:fld>
            <a:endParaRPr lang="en-US"/>
          </a:p>
        </p:txBody>
      </p:sp>
    </p:spTree>
    <p:extLst>
      <p:ext uri="{BB962C8B-B14F-4D97-AF65-F5344CB8AC3E}">
        <p14:creationId xmlns:p14="http://schemas.microsoft.com/office/powerpoint/2010/main" val="852889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2804D-A4AE-8783-6237-F7D396A309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10E8A50-C139-60C3-0E54-D199CCE968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D34075-FAB8-36AD-AE8C-D09B4C632656}"/>
              </a:ext>
            </a:extLst>
          </p:cNvPr>
          <p:cNvSpPr>
            <a:spLocks noGrp="1"/>
          </p:cNvSpPr>
          <p:nvPr>
            <p:ph type="dt" sz="half" idx="10"/>
          </p:nvPr>
        </p:nvSpPr>
        <p:spPr/>
        <p:txBody>
          <a:bodyPr/>
          <a:lstStyle/>
          <a:p>
            <a:fld id="{254F3023-50C0-4ADB-A2F9-F297B4C75241}" type="datetimeFigureOut">
              <a:rPr lang="en-US" smtClean="0"/>
              <a:t>5/27/2026</a:t>
            </a:fld>
            <a:endParaRPr lang="en-US"/>
          </a:p>
        </p:txBody>
      </p:sp>
      <p:sp>
        <p:nvSpPr>
          <p:cNvPr id="5" name="Footer Placeholder 4">
            <a:extLst>
              <a:ext uri="{FF2B5EF4-FFF2-40B4-BE49-F238E27FC236}">
                <a16:creationId xmlns:a16="http://schemas.microsoft.com/office/drawing/2014/main" id="{E927EB80-28BC-190D-F938-41F069A285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CAF2C4-C623-CA2E-9884-9A5A90FD7B13}"/>
              </a:ext>
            </a:extLst>
          </p:cNvPr>
          <p:cNvSpPr>
            <a:spLocks noGrp="1"/>
          </p:cNvSpPr>
          <p:nvPr>
            <p:ph type="sldNum" sz="quarter" idx="12"/>
          </p:nvPr>
        </p:nvSpPr>
        <p:spPr/>
        <p:txBody>
          <a:bodyPr/>
          <a:lstStyle/>
          <a:p>
            <a:fld id="{B5205703-FF35-4FF9-9E39-E729B2A44C97}" type="slidenum">
              <a:rPr lang="en-US" smtClean="0"/>
              <a:t>‹#›</a:t>
            </a:fld>
            <a:endParaRPr lang="en-US"/>
          </a:p>
        </p:txBody>
      </p:sp>
    </p:spTree>
    <p:extLst>
      <p:ext uri="{BB962C8B-B14F-4D97-AF65-F5344CB8AC3E}">
        <p14:creationId xmlns:p14="http://schemas.microsoft.com/office/powerpoint/2010/main" val="1371207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45172C-3BC9-72D6-9E6D-9D9D2B5DA0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A51AFE5-6780-712B-93B5-5CF2F69BFB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78DE62-A69A-5A24-DE2F-8525EEA46255}"/>
              </a:ext>
            </a:extLst>
          </p:cNvPr>
          <p:cNvSpPr>
            <a:spLocks noGrp="1"/>
          </p:cNvSpPr>
          <p:nvPr>
            <p:ph type="dt" sz="half" idx="10"/>
          </p:nvPr>
        </p:nvSpPr>
        <p:spPr/>
        <p:txBody>
          <a:bodyPr/>
          <a:lstStyle/>
          <a:p>
            <a:fld id="{254F3023-50C0-4ADB-A2F9-F297B4C75241}" type="datetimeFigureOut">
              <a:rPr lang="en-US" smtClean="0"/>
              <a:t>5/27/2026</a:t>
            </a:fld>
            <a:endParaRPr lang="en-US"/>
          </a:p>
        </p:txBody>
      </p:sp>
      <p:sp>
        <p:nvSpPr>
          <p:cNvPr id="5" name="Footer Placeholder 4">
            <a:extLst>
              <a:ext uri="{FF2B5EF4-FFF2-40B4-BE49-F238E27FC236}">
                <a16:creationId xmlns:a16="http://schemas.microsoft.com/office/drawing/2014/main" id="{81A728FF-F5A1-4541-24F7-E175E4EAE9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01C88E-BE2B-3BB8-102A-D33B2392A3F2}"/>
              </a:ext>
            </a:extLst>
          </p:cNvPr>
          <p:cNvSpPr>
            <a:spLocks noGrp="1"/>
          </p:cNvSpPr>
          <p:nvPr>
            <p:ph type="sldNum" sz="quarter" idx="12"/>
          </p:nvPr>
        </p:nvSpPr>
        <p:spPr/>
        <p:txBody>
          <a:bodyPr/>
          <a:lstStyle/>
          <a:p>
            <a:fld id="{B5205703-FF35-4FF9-9E39-E729B2A44C97}" type="slidenum">
              <a:rPr lang="en-US" smtClean="0"/>
              <a:t>‹#›</a:t>
            </a:fld>
            <a:endParaRPr lang="en-US"/>
          </a:p>
        </p:txBody>
      </p:sp>
    </p:spTree>
    <p:extLst>
      <p:ext uri="{BB962C8B-B14F-4D97-AF65-F5344CB8AC3E}">
        <p14:creationId xmlns:p14="http://schemas.microsoft.com/office/powerpoint/2010/main" val="3249215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C2B94A-D81E-696B-3C94-315FD517CD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54AD701-E391-99FB-744A-FB2A392695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CB1163-DB23-58E0-808A-4EE4D3DBBB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4F3023-50C0-4ADB-A2F9-F297B4C75241}" type="datetimeFigureOut">
              <a:rPr lang="en-US" smtClean="0"/>
              <a:t>5/27/2026</a:t>
            </a:fld>
            <a:endParaRPr lang="en-US"/>
          </a:p>
        </p:txBody>
      </p:sp>
      <p:sp>
        <p:nvSpPr>
          <p:cNvPr id="5" name="Footer Placeholder 4">
            <a:extLst>
              <a:ext uri="{FF2B5EF4-FFF2-40B4-BE49-F238E27FC236}">
                <a16:creationId xmlns:a16="http://schemas.microsoft.com/office/drawing/2014/main" id="{D1EBA4A3-C3AD-E834-90E4-46293F2869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4FCAB80-777C-08C3-FB4D-82152F490D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205703-FF35-4FF9-9E39-E729B2A44C97}" type="slidenum">
              <a:rPr lang="en-US" smtClean="0"/>
              <a:t>‹#›</a:t>
            </a:fld>
            <a:endParaRPr lang="en-US"/>
          </a:p>
        </p:txBody>
      </p:sp>
    </p:spTree>
    <p:extLst>
      <p:ext uri="{BB962C8B-B14F-4D97-AF65-F5344CB8AC3E}">
        <p14:creationId xmlns:p14="http://schemas.microsoft.com/office/powerpoint/2010/main" val="3412838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contenthub-aem.optumrx.com/content/dam/contenthub/rx-assets/en/documents/clients/tenncare/Buprenorphine-Products-PA-Form.pdf" TargetMode="External"/><Relationship Id="rId2" Type="http://schemas.openxmlformats.org/officeDocument/2006/relationships/hyperlink" Target="https://www.tn.gov/content/dam/tn/tenncare/documents/UpdatesTennCareBuprenorphinePriorAuthorizationCriteriaMemo.pdf" TargetMode="External"/><Relationship Id="rId1" Type="http://schemas.openxmlformats.org/officeDocument/2006/relationships/slideLayout" Target="../slideLayouts/slideLayout7.xml"/><Relationship Id="rId6" Type="http://schemas.openxmlformats.org/officeDocument/2006/relationships/hyperlink" Target="https://pcssnow.org/wp-content/uploads/2021/04/quick-start-guide.pdf" TargetMode="External"/><Relationship Id="rId5" Type="http://schemas.openxmlformats.org/officeDocument/2006/relationships/hyperlink" Target="https://www.tn.gov/content/dam/tn/mentalhealth/documents/Bupe_Treatment_Guidelines_Fall_2023.pdf" TargetMode="External"/><Relationship Id="rId4" Type="http://schemas.openxmlformats.org/officeDocument/2006/relationships/hyperlink" Target="https://www.samhsa.gov/medications-substance-use-disorders/training-requirements-mate-act-resourc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D37161-D258-B090-730B-B62C658FCAEC}"/>
              </a:ext>
            </a:extLst>
          </p:cNvPr>
          <p:cNvSpPr/>
          <p:nvPr/>
        </p:nvSpPr>
        <p:spPr>
          <a:xfrm>
            <a:off x="6763267" y="792805"/>
            <a:ext cx="5155660" cy="26361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Why become a BESMART Provider?</a:t>
            </a:r>
          </a:p>
          <a:p>
            <a:r>
              <a:rPr lang="en-US" dirty="0"/>
              <a:t>Consider if you:  </a:t>
            </a:r>
          </a:p>
          <a:p>
            <a:r>
              <a:rPr lang="en-US" dirty="0"/>
              <a:t>…have a large TennCare buprenorphine population</a:t>
            </a:r>
          </a:p>
          <a:p>
            <a:r>
              <a:rPr lang="en-US" dirty="0"/>
              <a:t>…typically prescribe below 16/20mg of Buprenorphine: won’t have to do the PA form </a:t>
            </a:r>
          </a:p>
          <a:p>
            <a:r>
              <a:rPr lang="en-US" dirty="0"/>
              <a:t>…have APPs on your team who would help with monitoring and prescribing</a:t>
            </a:r>
          </a:p>
          <a:p>
            <a:r>
              <a:rPr lang="en-US" dirty="0"/>
              <a:t>…are an APP who works with a physician who supports your prescribing of this product</a:t>
            </a:r>
          </a:p>
        </p:txBody>
      </p:sp>
      <p:sp>
        <p:nvSpPr>
          <p:cNvPr id="4" name="TextBox 3">
            <a:extLst>
              <a:ext uri="{FF2B5EF4-FFF2-40B4-BE49-F238E27FC236}">
                <a16:creationId xmlns:a16="http://schemas.microsoft.com/office/drawing/2014/main" id="{D77DBB10-98B3-4493-5442-97F7BEEA4BF3}"/>
              </a:ext>
            </a:extLst>
          </p:cNvPr>
          <p:cNvSpPr txBox="1"/>
          <p:nvPr/>
        </p:nvSpPr>
        <p:spPr>
          <a:xfrm>
            <a:off x="115746" y="289367"/>
            <a:ext cx="6639633" cy="3139321"/>
          </a:xfrm>
          <a:prstGeom prst="rect">
            <a:avLst/>
          </a:prstGeom>
          <a:noFill/>
          <a:ln>
            <a:solidFill>
              <a:schemeClr val="tx1"/>
            </a:solidFill>
          </a:ln>
        </p:spPr>
        <p:txBody>
          <a:bodyPr wrap="square" lIns="91440" tIns="45720" rIns="91440" bIns="45720" rtlCol="0" anchor="t">
            <a:spAutoFit/>
          </a:bodyPr>
          <a:lstStyle/>
          <a:p>
            <a:r>
              <a:rPr lang="en-US" u="sng" dirty="0"/>
              <a:t>BESMART program</a:t>
            </a:r>
            <a:endParaRPr lang="en-US" dirty="0"/>
          </a:p>
          <a:p>
            <a:r>
              <a:rPr lang="en-US" dirty="0"/>
              <a:t>“Buprenorphine Enhanced Supportive Medication-Assisted Recovery and Treatment”</a:t>
            </a:r>
          </a:p>
          <a:p>
            <a:r>
              <a:rPr lang="en-US" dirty="0"/>
              <a:t>Began in 2019, TennCare only. Reported benefits for BESMART: </a:t>
            </a:r>
          </a:p>
          <a:p>
            <a:r>
              <a:rPr lang="en-US"/>
              <a:t>(1) </a:t>
            </a:r>
            <a:r>
              <a:rPr lang="en-US" dirty="0"/>
              <a:t>clinical and care coordination support for MCOs </a:t>
            </a:r>
          </a:p>
          <a:p>
            <a:r>
              <a:rPr lang="en-US" dirty="0"/>
              <a:t>(2) increased data on quality and health outcomes </a:t>
            </a:r>
            <a:endParaRPr lang="en-US"/>
          </a:p>
          <a:p>
            <a:r>
              <a:rPr lang="en-US" dirty="0"/>
              <a:t>(3) enhanced reimbursement from MCOs for defined BESMART services </a:t>
            </a:r>
          </a:p>
          <a:p>
            <a:r>
              <a:rPr lang="en-US" dirty="0"/>
              <a:t>(4) access to </a:t>
            </a:r>
            <a:r>
              <a:rPr lang="en-US" dirty="0" err="1"/>
              <a:t>monoproduct</a:t>
            </a:r>
            <a:r>
              <a:rPr lang="en-US" dirty="0"/>
              <a:t> buprenorphine </a:t>
            </a:r>
            <a:endParaRPr lang="en-US"/>
          </a:p>
          <a:p>
            <a:r>
              <a:rPr lang="en-US"/>
              <a:t>(5) shortened prior </a:t>
            </a:r>
            <a:r>
              <a:rPr lang="en-US" dirty="0"/>
              <a:t>authorization form.</a:t>
            </a:r>
          </a:p>
          <a:p>
            <a:endParaRPr lang="en-US" dirty="0"/>
          </a:p>
        </p:txBody>
      </p:sp>
      <p:sp>
        <p:nvSpPr>
          <p:cNvPr id="6" name="TextBox 5">
            <a:extLst>
              <a:ext uri="{FF2B5EF4-FFF2-40B4-BE49-F238E27FC236}">
                <a16:creationId xmlns:a16="http://schemas.microsoft.com/office/drawing/2014/main" id="{C3F66AAA-BF0D-187A-080B-A9FBF8689074}"/>
              </a:ext>
            </a:extLst>
          </p:cNvPr>
          <p:cNvSpPr txBox="1"/>
          <p:nvPr/>
        </p:nvSpPr>
        <p:spPr>
          <a:xfrm>
            <a:off x="115746" y="3888602"/>
            <a:ext cx="11800320" cy="2554545"/>
          </a:xfrm>
          <a:prstGeom prst="rect">
            <a:avLst/>
          </a:prstGeom>
          <a:noFill/>
          <a:ln>
            <a:solidFill>
              <a:schemeClr val="tx1"/>
            </a:solidFill>
          </a:ln>
        </p:spPr>
        <p:txBody>
          <a:bodyPr wrap="square" lIns="91440" tIns="45720" rIns="91440" bIns="45720" anchor="t">
            <a:spAutoFit/>
          </a:bodyPr>
          <a:lstStyle/>
          <a:p>
            <a:r>
              <a:rPr lang="en-US" sz="1600" u="sng" dirty="0"/>
              <a:t>Prescriber Criteria for inclusion in BESMART program</a:t>
            </a:r>
          </a:p>
          <a:p>
            <a:r>
              <a:rPr lang="en-US" sz="1600"/>
              <a:t>All providers must hold an active DEA with the authority to prescribe controlled substances. </a:t>
            </a:r>
          </a:p>
          <a:p>
            <a:endParaRPr lang="en-US" sz="1600" dirty="0"/>
          </a:p>
          <a:p>
            <a:r>
              <a:rPr lang="en-US" sz="1600"/>
              <a:t>Network Provider Eligibility: A physician who holds an unrestricted license from the Tennessee Board of Medical Examiners or the </a:t>
            </a:r>
            <a:r>
              <a:rPr lang="en-US" sz="1600" dirty="0"/>
              <a:t>Tennessee Board of Osteopathic Examination </a:t>
            </a:r>
            <a:endParaRPr lang="en-US"/>
          </a:p>
          <a:p>
            <a:r>
              <a:rPr lang="en-US" sz="1600"/>
              <a:t>OR</a:t>
            </a:r>
          </a:p>
          <a:p>
            <a:r>
              <a:rPr lang="en-US" sz="1600" dirty="0"/>
              <a:t>  A Nurse Practitioner (NP) or Physician Assistant (PA) who holds an unrestricted license from the respective state licensing board and meets the requirements to provide buprenorphine product as outlined in Public Chapters 761 and 771 of 2020. The NP or PA must practice under a supervising physician who holds an active, unrestricted DEA </a:t>
            </a:r>
            <a:r>
              <a:rPr lang="en-US" sz="1600" i="1" dirty="0"/>
              <a:t>and is contracted with the MCO’s BESMART Network</a:t>
            </a:r>
            <a:r>
              <a:rPr lang="en-US" sz="1600" dirty="0"/>
              <a:t>. </a:t>
            </a:r>
            <a:r>
              <a:rPr lang="en-US" sz="1600"/>
              <a:t>The NP or PA does not exceed their patient limit according to state law .</a:t>
            </a:r>
          </a:p>
        </p:txBody>
      </p:sp>
      <p:sp>
        <p:nvSpPr>
          <p:cNvPr id="3" name="TextBox 2">
            <a:extLst>
              <a:ext uri="{FF2B5EF4-FFF2-40B4-BE49-F238E27FC236}">
                <a16:creationId xmlns:a16="http://schemas.microsoft.com/office/drawing/2014/main" id="{AF1E7E87-F05D-A60C-DB99-97A0AB105874}"/>
              </a:ext>
            </a:extLst>
          </p:cNvPr>
          <p:cNvSpPr txBox="1"/>
          <p:nvPr/>
        </p:nvSpPr>
        <p:spPr>
          <a:xfrm>
            <a:off x="111513" y="3429000"/>
            <a:ext cx="11327779"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t>Reference: https</a:t>
            </a:r>
            <a:r>
              <a:rPr lang="en-US" sz="1600" dirty="0"/>
              <a:t>://www.tn.gov/content/dam/tn/tenncare/documents/BESMARTProgramDescription.pdf</a:t>
            </a:r>
          </a:p>
          <a:p>
            <a:pPr algn="ctr"/>
            <a:endParaRPr lang="en-US"/>
          </a:p>
        </p:txBody>
      </p:sp>
    </p:spTree>
    <p:extLst>
      <p:ext uri="{BB962C8B-B14F-4D97-AF65-F5344CB8AC3E}">
        <p14:creationId xmlns:p14="http://schemas.microsoft.com/office/powerpoint/2010/main" val="1084221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E9C448-3DC0-6512-95DC-6295F377A55F}"/>
              </a:ext>
            </a:extLst>
          </p:cNvPr>
          <p:cNvSpPr txBox="1"/>
          <p:nvPr/>
        </p:nvSpPr>
        <p:spPr>
          <a:xfrm>
            <a:off x="370390" y="300942"/>
            <a:ext cx="10463514" cy="369332"/>
          </a:xfrm>
          <a:prstGeom prst="rect">
            <a:avLst/>
          </a:prstGeom>
          <a:noFill/>
        </p:spPr>
        <p:txBody>
          <a:bodyPr wrap="square" rtlCol="0">
            <a:spAutoFit/>
          </a:bodyPr>
          <a:lstStyle/>
          <a:p>
            <a:r>
              <a:rPr lang="en-US" u="sng" dirty="0"/>
              <a:t> </a:t>
            </a:r>
          </a:p>
        </p:txBody>
      </p:sp>
      <p:sp>
        <p:nvSpPr>
          <p:cNvPr id="4" name="TextBox 3">
            <a:extLst>
              <a:ext uri="{FF2B5EF4-FFF2-40B4-BE49-F238E27FC236}">
                <a16:creationId xmlns:a16="http://schemas.microsoft.com/office/drawing/2014/main" id="{A5EE4389-E249-18E1-BD04-CC04E77A75CC}"/>
              </a:ext>
            </a:extLst>
          </p:cNvPr>
          <p:cNvSpPr txBox="1"/>
          <p:nvPr/>
        </p:nvSpPr>
        <p:spPr>
          <a:xfrm>
            <a:off x="115746" y="131391"/>
            <a:ext cx="6639633" cy="3539430"/>
          </a:xfrm>
          <a:prstGeom prst="rect">
            <a:avLst/>
          </a:prstGeom>
          <a:noFill/>
          <a:ln>
            <a:solidFill>
              <a:schemeClr val="tx1"/>
            </a:solidFill>
          </a:ln>
        </p:spPr>
        <p:txBody>
          <a:bodyPr wrap="square" lIns="91440" tIns="45720" rIns="91440" bIns="45720" rtlCol="0" anchor="t">
            <a:spAutoFit/>
          </a:bodyPr>
          <a:lstStyle/>
          <a:p>
            <a:r>
              <a:rPr lang="en-US" sz="1600" u="sng">
                <a:latin typeface="Aptos"/>
                <a:cs typeface="Times New Roman"/>
              </a:rPr>
              <a:t>BESMART Prior Authorization Process </a:t>
            </a:r>
            <a:r>
              <a:rPr lang="en-US" sz="1600" dirty="0">
                <a:solidFill>
                  <a:srgbClr val="467886"/>
                </a:solidFill>
                <a:latin typeface="Aptos"/>
                <a:cs typeface="Times New Roman"/>
                <a:hlinkClick r:id="rId2"/>
              </a:rPr>
              <a:t>https://www.tn.gov/content/dam/tn/tenncare/documents/UpdatesTennCareBuprenorphinePriorAuthorizationCriteriaMemo.pdf</a:t>
            </a:r>
            <a:endParaRPr lang="en-US" sz="1600" dirty="0">
              <a:latin typeface="Aptos"/>
              <a:cs typeface="Times New Roman"/>
            </a:endParaRPr>
          </a:p>
          <a:p>
            <a:pPr marL="342900" indent="-342900">
              <a:buAutoNum type="arabicPeriod"/>
            </a:pPr>
            <a:r>
              <a:rPr lang="en-US" sz="1600" dirty="0">
                <a:latin typeface="Aptos"/>
                <a:cs typeface="Times New Roman"/>
              </a:rPr>
              <a:t>If you are a BESMART Provider, you won’t be subject to the PA process below certain doses. See the above document. </a:t>
            </a:r>
          </a:p>
          <a:p>
            <a:pPr marL="342900" indent="-342900">
              <a:buAutoNum type="arabicPeriod"/>
            </a:pPr>
            <a:r>
              <a:rPr lang="en-US" sz="1600">
                <a:latin typeface="Aptos"/>
                <a:cs typeface="Times New Roman"/>
              </a:rPr>
              <a:t>If you are a physician in TennCare network who is not a BESMART provider, you will need to complete the prior authorization through TennCare. NP/PA who are not BESMART enrolled </a:t>
            </a:r>
            <a:r>
              <a:rPr lang="en-US" sz="1600" b="1">
                <a:latin typeface="Aptos"/>
                <a:cs typeface="Times New Roman"/>
              </a:rPr>
              <a:t>cannot</a:t>
            </a:r>
            <a:r>
              <a:rPr lang="en-US" sz="1600">
                <a:latin typeface="Aptos"/>
                <a:cs typeface="Times New Roman"/>
              </a:rPr>
              <a:t> prescribe buprenorphine product to TennCare patients. </a:t>
            </a:r>
            <a:r>
              <a:rPr lang="en-US" sz="1600" dirty="0">
                <a:solidFill>
                  <a:srgbClr val="467886"/>
                </a:solidFill>
                <a:latin typeface="Aptos"/>
                <a:cs typeface="Times New Roman"/>
                <a:hlinkClick r:id="rId3"/>
              </a:rPr>
              <a:t>Buprenorphine-Products-PA-Form.pdf</a:t>
            </a:r>
            <a:r>
              <a:rPr lang="en-US" sz="1600" dirty="0">
                <a:latin typeface="Aptos"/>
                <a:cs typeface="Times New Roman"/>
              </a:rPr>
              <a:t> </a:t>
            </a:r>
            <a:r>
              <a:rPr lang="en-US" sz="1600" dirty="0">
                <a:solidFill>
                  <a:srgbClr val="467886"/>
                </a:solidFill>
                <a:latin typeface="Aptos"/>
                <a:cs typeface="Times New Roman"/>
                <a:hlinkClick r:id="rId3"/>
              </a:rPr>
              <a:t>https://contenthub-aem.optumrx.com/content/dam/contenthub/rx-assets/en/documents/clients/tenncare/Buprenorphine-Products-PA-Form.pdf</a:t>
            </a:r>
            <a:r>
              <a:rPr lang="en-US" sz="1600" dirty="0">
                <a:latin typeface="Aptos"/>
                <a:cs typeface="Times New Roman"/>
              </a:rPr>
              <a:t> </a:t>
            </a:r>
          </a:p>
          <a:p>
            <a:pPr marL="342900" indent="-342900">
              <a:buAutoNum type="arabicPeriod"/>
            </a:pPr>
            <a:r>
              <a:rPr lang="en-US" sz="1600">
                <a:latin typeface="Aptos"/>
                <a:cs typeface="Times New Roman"/>
              </a:rPr>
              <a:t>PA responses occur within 24 hours from Optum Rx. </a:t>
            </a:r>
            <a:endParaRPr lang="en-US" sz="1600">
              <a:latin typeface="Aptos"/>
            </a:endParaRPr>
          </a:p>
        </p:txBody>
      </p:sp>
      <p:sp>
        <p:nvSpPr>
          <p:cNvPr id="7" name="Rectangle 6">
            <a:extLst>
              <a:ext uri="{FF2B5EF4-FFF2-40B4-BE49-F238E27FC236}">
                <a16:creationId xmlns:a16="http://schemas.microsoft.com/office/drawing/2014/main" id="{698A01D6-BC6E-B2DE-DF3C-64CD1549639C}"/>
              </a:ext>
            </a:extLst>
          </p:cNvPr>
          <p:cNvSpPr/>
          <p:nvPr/>
        </p:nvSpPr>
        <p:spPr>
          <a:xfrm>
            <a:off x="6763267" y="579074"/>
            <a:ext cx="5155660" cy="26361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p>
          <a:p>
            <a:endParaRPr lang="en-US"/>
          </a:p>
          <a:p>
            <a:r>
              <a:rPr lang="en-US" sz="1600" u="sng">
                <a:solidFill>
                  <a:schemeClr val="bg1"/>
                </a:solidFill>
                <a:latin typeface="Aptos"/>
                <a:cs typeface="Times New Roman"/>
              </a:rPr>
              <a:t>Other Insurance Carrier Prior Authorization </a:t>
            </a:r>
            <a:r>
              <a:rPr lang="en-US" sz="1600" u="sng" dirty="0">
                <a:solidFill>
                  <a:schemeClr val="bg1"/>
                </a:solidFill>
                <a:latin typeface="Aptos"/>
                <a:cs typeface="Times New Roman"/>
              </a:rPr>
              <a:t>Process</a:t>
            </a:r>
          </a:p>
          <a:p>
            <a:endParaRPr lang="en-US" sz="1600" dirty="0">
              <a:solidFill>
                <a:schemeClr val="bg1"/>
              </a:solidFill>
              <a:latin typeface="Aptos"/>
              <a:cs typeface="Times New Roman"/>
            </a:endParaRPr>
          </a:p>
          <a:p>
            <a:r>
              <a:rPr lang="en-US" sz="1600">
                <a:solidFill>
                  <a:schemeClr val="bg1"/>
                </a:solidFill>
                <a:latin typeface="Aptos"/>
                <a:cs typeface="Times New Roman"/>
              </a:rPr>
              <a:t>These vary. For</a:t>
            </a:r>
            <a:r>
              <a:rPr lang="en-US" sz="1600" dirty="0">
                <a:solidFill>
                  <a:schemeClr val="bg1"/>
                </a:solidFill>
                <a:latin typeface="Aptos"/>
                <a:cs typeface="Times New Roman"/>
              </a:rPr>
              <a:t> commercial and other patients, each program may have different prior authorization requirements. The information in the BESMART Prior Authorization can serve as a guide for what may be requested, as it is often more comprehensive than most </a:t>
            </a:r>
            <a:r>
              <a:rPr lang="en-US" sz="1600">
                <a:solidFill>
                  <a:schemeClr val="bg1"/>
                </a:solidFill>
                <a:latin typeface="Aptos"/>
                <a:cs typeface="Times New Roman"/>
              </a:rPr>
              <a:t>programs. </a:t>
            </a:r>
            <a:endParaRPr lang="en-US" sz="1600">
              <a:solidFill>
                <a:schemeClr val="bg1"/>
              </a:solidFill>
              <a:latin typeface="Aptos"/>
            </a:endParaRPr>
          </a:p>
          <a:p>
            <a:endParaRPr lang="en-US" sz="1600">
              <a:solidFill>
                <a:schemeClr val="bg1"/>
              </a:solidFill>
              <a:latin typeface="Aptos"/>
              <a:cs typeface="Times New Roman"/>
            </a:endParaRPr>
          </a:p>
          <a:p>
            <a:endParaRPr lang="en-US" sz="1600">
              <a:solidFill>
                <a:schemeClr val="bg1"/>
              </a:solidFill>
              <a:latin typeface="Aptos"/>
              <a:cs typeface="Times New Roman"/>
            </a:endParaRPr>
          </a:p>
        </p:txBody>
      </p:sp>
      <p:sp>
        <p:nvSpPr>
          <p:cNvPr id="9" name="TextBox 8">
            <a:extLst>
              <a:ext uri="{FF2B5EF4-FFF2-40B4-BE49-F238E27FC236}">
                <a16:creationId xmlns:a16="http://schemas.microsoft.com/office/drawing/2014/main" id="{C0840A82-6155-F384-3EC7-7C358C0D86E2}"/>
              </a:ext>
            </a:extLst>
          </p:cNvPr>
          <p:cNvSpPr txBox="1"/>
          <p:nvPr/>
        </p:nvSpPr>
        <p:spPr>
          <a:xfrm>
            <a:off x="115746" y="3786383"/>
            <a:ext cx="11800320" cy="2800767"/>
          </a:xfrm>
          <a:prstGeom prst="rect">
            <a:avLst/>
          </a:prstGeom>
          <a:noFill/>
          <a:ln>
            <a:solidFill>
              <a:schemeClr val="tx1"/>
            </a:solidFill>
          </a:ln>
        </p:spPr>
        <p:txBody>
          <a:bodyPr wrap="square" lIns="91440" tIns="45720" rIns="91440" bIns="45720" anchor="t">
            <a:spAutoFit/>
          </a:bodyPr>
          <a:lstStyle/>
          <a:p>
            <a:r>
              <a:rPr lang="en-US" sz="1600" u="sng">
                <a:latin typeface="Aptos"/>
                <a:cs typeface="Times New Roman"/>
              </a:rPr>
              <a:t>CME Requirements</a:t>
            </a:r>
            <a:r>
              <a:rPr lang="en-US" sz="1600" dirty="0">
                <a:latin typeface="Aptos"/>
                <a:cs typeface="Times New Roman"/>
              </a:rPr>
              <a:t> </a:t>
            </a:r>
          </a:p>
          <a:p>
            <a:r>
              <a:rPr lang="en-US" sz="1600">
                <a:latin typeface="Aptos"/>
                <a:cs typeface="Times New Roman"/>
              </a:rPr>
              <a:t>One time only 8 hours of CME options can be found here: </a:t>
            </a:r>
            <a:r>
              <a:rPr lang="en-US" sz="1600" dirty="0">
                <a:solidFill>
                  <a:srgbClr val="467886"/>
                </a:solidFill>
                <a:latin typeface="Aptos"/>
                <a:cs typeface="Times New Roman"/>
                <a:hlinkClick r:id="rId4"/>
              </a:rPr>
              <a:t>https://www.samhsa.gov/medications-substance-use-disorders/training-requirements-mate-act-resources</a:t>
            </a:r>
            <a:endParaRPr lang="en-US" sz="1600" dirty="0">
              <a:latin typeface="Aptos"/>
              <a:cs typeface="Times New Roman"/>
            </a:endParaRPr>
          </a:p>
          <a:p>
            <a:r>
              <a:rPr lang="en-US" sz="1600" dirty="0">
                <a:latin typeface="Aptos"/>
                <a:cs typeface="Times New Roman"/>
              </a:rPr>
              <a:t>Additional training in OUD treatments is recommended, but no X waiver is required any longer, since 2023. </a:t>
            </a:r>
          </a:p>
          <a:p>
            <a:endParaRPr lang="en-US" sz="1600" dirty="0"/>
          </a:p>
          <a:p>
            <a:r>
              <a:rPr lang="en-US" sz="1600" u="sng">
                <a:latin typeface="Aptos"/>
                <a:cs typeface="Times New Roman"/>
              </a:rPr>
              <a:t>Reference Materials</a:t>
            </a:r>
            <a:endParaRPr lang="en-US" sz="1600">
              <a:latin typeface="Aptos"/>
              <a:cs typeface="Times New Roman"/>
            </a:endParaRPr>
          </a:p>
          <a:p>
            <a:r>
              <a:rPr lang="en-US" sz="1600">
                <a:latin typeface="Aptos"/>
                <a:cs typeface="Times New Roman"/>
              </a:rPr>
              <a:t>Complete prescribing guidelines from the state: </a:t>
            </a:r>
            <a:r>
              <a:rPr lang="en-US" sz="1600" dirty="0">
                <a:solidFill>
                  <a:srgbClr val="467886"/>
                </a:solidFill>
                <a:latin typeface="Aptos"/>
                <a:cs typeface="Times New Roman"/>
                <a:hlinkClick r:id="rId5"/>
              </a:rPr>
              <a:t>https://www.tn.gov/content/dam/tn/mentalhealth/documents/Bupe_Treatment_Guidelines_Fall_2023.pdf</a:t>
            </a:r>
            <a:endParaRPr lang="en-US" sz="1600" dirty="0">
              <a:latin typeface="Aptos"/>
              <a:cs typeface="Times New Roman"/>
            </a:endParaRPr>
          </a:p>
          <a:p>
            <a:endParaRPr lang="en-US" sz="1600" dirty="0"/>
          </a:p>
          <a:p>
            <a:r>
              <a:rPr lang="en-US" sz="1600">
                <a:latin typeface="Aptos"/>
                <a:cs typeface="Times New Roman"/>
              </a:rPr>
              <a:t>Quick Start guide for prescribers: </a:t>
            </a:r>
            <a:r>
              <a:rPr lang="en-US" sz="1600" dirty="0">
                <a:solidFill>
                  <a:srgbClr val="467886"/>
                </a:solidFill>
                <a:latin typeface="Aptos"/>
                <a:cs typeface="Times New Roman"/>
                <a:hlinkClick r:id="rId6"/>
              </a:rPr>
              <a:t>https://pcssnow.org/wp-content/uploads/2021/04/quick-start-guide.pdf</a:t>
            </a:r>
            <a:r>
              <a:rPr lang="en-US" sz="1600" dirty="0">
                <a:latin typeface="Aptos"/>
                <a:cs typeface="Times New Roman"/>
              </a:rPr>
              <a:t> </a:t>
            </a:r>
          </a:p>
          <a:p>
            <a:r>
              <a:rPr lang="en-US" sz="1600" dirty="0">
                <a:latin typeface="Aptos"/>
                <a:cs typeface="Times New Roman"/>
              </a:rPr>
              <a:t>The six page SAMHSA guide provides the overview of prescribing this essential medication. </a:t>
            </a:r>
            <a:endParaRPr lang="en-US"/>
          </a:p>
        </p:txBody>
      </p:sp>
    </p:spTree>
    <p:extLst>
      <p:ext uri="{BB962C8B-B14F-4D97-AF65-F5344CB8AC3E}">
        <p14:creationId xmlns:p14="http://schemas.microsoft.com/office/powerpoint/2010/main" val="18260181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32d4431f-3063-456f-bed5-c6f7660ad44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667CCBEC19C714E9824432C6A20C3C7" ma:contentTypeVersion="10" ma:contentTypeDescription="Create a new document." ma:contentTypeScope="" ma:versionID="7a0db9656fe7633823ce50e0f7cba10a">
  <xsd:schema xmlns:xsd="http://www.w3.org/2001/XMLSchema" xmlns:xs="http://www.w3.org/2001/XMLSchema" xmlns:p="http://schemas.microsoft.com/office/2006/metadata/properties" xmlns:ns3="32d4431f-3063-456f-bed5-c6f7660ad44d" targetNamespace="http://schemas.microsoft.com/office/2006/metadata/properties" ma:root="true" ma:fieldsID="3c21f44f31a003ed3435edd58f862c08" ns3:_="">
    <xsd:import namespace="32d4431f-3063-456f-bed5-c6f7660ad44d"/>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d4431f-3063-456f-bed5-c6f7660ad44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9B83B3E-BB7D-486A-9F3B-43623595B8E1}">
  <ds:schemaRefs>
    <ds:schemaRef ds:uri="http://schemas.microsoft.com/sharepoint/v3/contenttype/forms"/>
  </ds:schemaRefs>
</ds:datastoreItem>
</file>

<file path=customXml/itemProps2.xml><?xml version="1.0" encoding="utf-8"?>
<ds:datastoreItem xmlns:ds="http://schemas.openxmlformats.org/officeDocument/2006/customXml" ds:itemID="{B87C7E43-A4CC-42F7-B0BC-D2AD35B66734}">
  <ds:schemaRefs>
    <ds:schemaRef ds:uri="http://purl.org/dc/elements/1.1/"/>
    <ds:schemaRef ds:uri="32d4431f-3063-456f-bed5-c6f7660ad44d"/>
    <ds:schemaRef ds:uri="http://purl.org/dc/dcmitype/"/>
    <ds:schemaRef ds:uri="http://schemas.openxmlformats.org/package/2006/metadata/core-properties"/>
    <ds:schemaRef ds:uri="http://schemas.microsoft.com/office/2006/documentManagement/types"/>
    <ds:schemaRef ds:uri="http://schemas.microsoft.com/office/infopath/2007/PartnerControls"/>
    <ds:schemaRef ds:uri="http://schemas.microsoft.com/office/2006/metadata/properties"/>
    <ds:schemaRef ds:uri="http://www.w3.org/XML/1998/namespace"/>
    <ds:schemaRef ds:uri="http://purl.org/dc/terms/"/>
  </ds:schemaRefs>
</ds:datastoreItem>
</file>

<file path=customXml/itemProps3.xml><?xml version="1.0" encoding="utf-8"?>
<ds:datastoreItem xmlns:ds="http://schemas.openxmlformats.org/officeDocument/2006/customXml" ds:itemID="{6AC65724-D2C2-4220-9972-F45F3709A4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2d4431f-3063-456f-bed5-c6f7660ad44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218</TotalTime>
  <Words>588</Words>
  <Application>Microsoft Office PowerPoint</Application>
  <PresentationFormat>Widescreen</PresentationFormat>
  <Paragraphs>40</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Covenant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Brooks, Alicia M</dc:creator>
  <cp:lastModifiedBy>Brooks, Alicia M</cp:lastModifiedBy>
  <cp:revision>66</cp:revision>
  <dcterms:created xsi:type="dcterms:W3CDTF">2026-01-28T20:56:17Z</dcterms:created>
  <dcterms:modified xsi:type="dcterms:W3CDTF">2026-05-27T17:32:44Z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0x0101006667CCBEC19C714E9824432C6A20C3C7</vt:lpwstr>
  </property>
</Properties>
</file>