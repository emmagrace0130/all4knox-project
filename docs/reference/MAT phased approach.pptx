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66" r:id="rId7"/>
    <p:sldId id="258" r:id="rId8"/>
    <p:sldId id="259" r:id="rId9"/>
    <p:sldId id="260" r:id="rId10"/>
    <p:sldId id="261" r:id="rId11"/>
    <p:sldId id="264" r:id="rId12"/>
    <p:sldId id="263" r:id="rId13"/>
    <p:sldId id="262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covhlth-my.sharepoint.com/personal/abrook16_covhlth_com/_layouts/15/Doc.aspx?sourcedoc=%7B2E75953B-8FFE-48AC-967D-87766DD9262B%7D&amp;file=MAT%20primary%20Care%20readiness%20checklist%20horizontal%202%20page%20copy.docx&amp;action=default&amp;mobileredirect=true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5696" y="182880"/>
            <a:ext cx="67126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MAT in Primary Care – Leadership </a:t>
            </a:r>
            <a:r>
              <a:rPr lang="en-US" dirty="0"/>
              <a:t>R</a:t>
            </a:r>
            <a:r>
              <a:rPr dirty="0"/>
              <a:t>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Enable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914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13716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Leadership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Scope+Champion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Approve Protocols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39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Staffing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Validate Network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Oversee Pilot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1280160"/>
            <a:ext cx="1097280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Expand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" y="210312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Clinical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Escalation Pathways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Build Protocols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Validate Flows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Align Counseling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Manage Cohort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011680"/>
            <a:ext cx="1097280" cy="548640"/>
          </a:xfrm>
          <a:prstGeom prst="rect">
            <a:avLst/>
          </a:prstGeom>
          <a:solidFill>
            <a:srgbClr val="009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Increase MDs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83464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Operations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Workflow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Scheduling Model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Train Staff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Referral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Monitor Flow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743200"/>
            <a:ext cx="109728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Expand Capacity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" y="356616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Behavioral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Integration Model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0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Referral Partners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Warm Handoffs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Community Network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Track Engagement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474720"/>
            <a:ext cx="1097280" cy="5486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Scale Network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" y="42976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Compliance Setup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0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Doc Requirements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Build Tools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Referral Tracking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26480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Dashboards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0" y="4206240"/>
            <a:ext cx="1097280" cy="548640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Maintain Reporting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E69A25-7AF5-96B4-42F7-2E6980A4DA13}"/>
              </a:ext>
            </a:extLst>
          </p:cNvPr>
          <p:cNvSpPr txBox="1"/>
          <p:nvPr/>
        </p:nvSpPr>
        <p:spPr>
          <a:xfrm>
            <a:off x="498347" y="5239512"/>
            <a:ext cx="8147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Above is an overview of a comprehensive approach to preparing for an implementing MAT in a standard primary care clinic where this has previously not existed.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CB2F7B-5592-1116-2CCA-1226AE1AB8BF}"/>
              </a:ext>
            </a:extLst>
          </p:cNvPr>
          <p:cNvSpPr txBox="1"/>
          <p:nvPr/>
        </p:nvSpPr>
        <p:spPr>
          <a:xfrm>
            <a:off x="566928" y="1307592"/>
            <a:ext cx="8823960" cy="920251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US" sz="1400" b="1" dirty="0"/>
              <a:t>PHASE 1: DESIGN &amp; ALIGN</a:t>
            </a:r>
          </a:p>
          <a:p>
            <a:r>
              <a:rPr lang="en-US" sz="1400" dirty="0"/>
              <a:t>Leadership: Define scope, champion, approve policies</a:t>
            </a:r>
          </a:p>
          <a:p>
            <a:r>
              <a:rPr lang="en-US" sz="1400" dirty="0"/>
              <a:t>Clinical: Define escalation pathways</a:t>
            </a:r>
          </a:p>
          <a:p>
            <a:r>
              <a:rPr lang="en-US" sz="1400" dirty="0"/>
              <a:t>Ops: Assess workflow impact</a:t>
            </a:r>
          </a:p>
          <a:p>
            <a:r>
              <a:rPr lang="en-US" sz="1400" dirty="0"/>
              <a:t>Behavioral Health: Define integration</a:t>
            </a:r>
          </a:p>
          <a:p>
            <a:r>
              <a:rPr lang="en-US" sz="1400" dirty="0"/>
              <a:t>IT/EHR: Assess compliance needs</a:t>
            </a:r>
          </a:p>
          <a:p>
            <a:endParaRPr lang="en-US" sz="1400" dirty="0"/>
          </a:p>
          <a:p>
            <a:r>
              <a:rPr lang="en-US" sz="1400" b="1" dirty="0"/>
              <a:t>PHASE 2: BUILD MODEL</a:t>
            </a:r>
          </a:p>
          <a:p>
            <a:r>
              <a:rPr lang="en-US" sz="1400" dirty="0"/>
              <a:t>Leadership: Approve protocols</a:t>
            </a:r>
          </a:p>
          <a:p>
            <a:r>
              <a:rPr lang="en-US" sz="1400" dirty="0"/>
              <a:t>Clinical: Develop diagnosis, induction, response protocols</a:t>
            </a:r>
          </a:p>
          <a:p>
            <a:r>
              <a:rPr lang="en-US" sz="1400" dirty="0"/>
              <a:t>Ops: Design scheduling, no-show workflows</a:t>
            </a:r>
          </a:p>
          <a:p>
            <a:r>
              <a:rPr lang="en-US" sz="1400" dirty="0"/>
              <a:t>Behavioral Health: Identify referral pathways</a:t>
            </a:r>
          </a:p>
          <a:p>
            <a:r>
              <a:rPr lang="en-US" sz="1400" dirty="0"/>
              <a:t>IT/EHR: Define documentation requirements</a:t>
            </a:r>
          </a:p>
          <a:p>
            <a:endParaRPr lang="en-US" sz="1400" b="1" dirty="0"/>
          </a:p>
          <a:p>
            <a:r>
              <a:rPr lang="en-US" sz="1400" b="1" dirty="0"/>
              <a:t>PHASE 3: ENABLE TEAM &amp; TECH</a:t>
            </a:r>
          </a:p>
          <a:p>
            <a:r>
              <a:rPr lang="en-US" sz="1400" dirty="0"/>
              <a:t>Leadership: Confirm staffing</a:t>
            </a:r>
          </a:p>
          <a:p>
            <a:r>
              <a:rPr lang="en-US" sz="1400" dirty="0"/>
              <a:t>Clinical: Validate workflows</a:t>
            </a:r>
          </a:p>
          <a:p>
            <a:r>
              <a:rPr lang="en-US" sz="1400" dirty="0"/>
              <a:t>Ops: Train staff (UDS, PDMP)</a:t>
            </a:r>
          </a:p>
          <a:p>
            <a:r>
              <a:rPr lang="en-US" sz="1400" dirty="0"/>
              <a:t>Behavioral Health: Train on integration</a:t>
            </a:r>
          </a:p>
          <a:p>
            <a:r>
              <a:rPr lang="en-US" sz="1400" dirty="0"/>
              <a:t>IT/EHR: Build templates, tracking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b="1" dirty="0"/>
              <a:t>PHASE 4: CONNECT ECOSYSTEM</a:t>
            </a:r>
          </a:p>
          <a:p>
            <a:r>
              <a:rPr lang="en-US" sz="1400" dirty="0"/>
              <a:t>Leadership: Validate network</a:t>
            </a:r>
          </a:p>
          <a:p>
            <a:r>
              <a:rPr lang="en-US" sz="1400" dirty="0"/>
              <a:t>Clinical: Align counseling expectations</a:t>
            </a:r>
          </a:p>
          <a:p>
            <a:r>
              <a:rPr lang="en-US" sz="1400" dirty="0"/>
              <a:t>Ops: Implement referral workflows</a:t>
            </a:r>
          </a:p>
          <a:p>
            <a:r>
              <a:rPr lang="en-US" sz="1400" dirty="0"/>
              <a:t>Behavioral Health: Establish community resources</a:t>
            </a:r>
          </a:p>
          <a:p>
            <a:r>
              <a:rPr lang="en-US" sz="1400" dirty="0"/>
              <a:t>IT/EHR: Enable referral tracking</a:t>
            </a:r>
          </a:p>
          <a:p>
            <a:endParaRPr lang="en-US" sz="1400" dirty="0"/>
          </a:p>
          <a:p>
            <a:r>
              <a:rPr lang="en-US" sz="1400" b="1" dirty="0"/>
              <a:t>PHASE 5: PILOT &amp; MONITOR</a:t>
            </a:r>
          </a:p>
          <a:p>
            <a:r>
              <a:rPr lang="en-US" sz="1400" dirty="0"/>
              <a:t>Leadership: Oversee pilot</a:t>
            </a:r>
          </a:p>
          <a:p>
            <a:r>
              <a:rPr lang="en-US" sz="1400" dirty="0"/>
              <a:t>Clinical: Manage cohort</a:t>
            </a:r>
          </a:p>
          <a:p>
            <a:r>
              <a:rPr lang="en-US" sz="1400" dirty="0"/>
              <a:t>Ops: Monitor visit flow</a:t>
            </a:r>
          </a:p>
          <a:p>
            <a:r>
              <a:rPr lang="en-US" sz="1400" dirty="0"/>
              <a:t>Behavioral Health: Track engagement</a:t>
            </a:r>
          </a:p>
          <a:p>
            <a:r>
              <a:rPr lang="en-US" sz="1400" dirty="0"/>
              <a:t>IT/EHR: Reporting dashboards</a:t>
            </a:r>
          </a:p>
          <a:p>
            <a:endParaRPr lang="en-US" sz="1400" dirty="0"/>
          </a:p>
          <a:p>
            <a:r>
              <a:rPr lang="en-US" sz="1400" b="1" dirty="0"/>
              <a:t>PHASE 6: SCALE</a:t>
            </a:r>
          </a:p>
          <a:p>
            <a:r>
              <a:rPr lang="en-US" sz="1400" dirty="0"/>
              <a:t>Leadership: Expand program</a:t>
            </a:r>
          </a:p>
          <a:p>
            <a:r>
              <a:rPr lang="en-US" sz="1400" dirty="0"/>
              <a:t>Clinical: Increase prescribers</a:t>
            </a:r>
          </a:p>
          <a:p>
            <a:r>
              <a:rPr lang="en-US" sz="1400" dirty="0"/>
              <a:t>Ops: Expand scheduling</a:t>
            </a:r>
          </a:p>
          <a:p>
            <a:r>
              <a:rPr lang="en-US" sz="1400" dirty="0"/>
              <a:t>Behavioral Health: Scale network</a:t>
            </a:r>
          </a:p>
          <a:p>
            <a:r>
              <a:rPr lang="en-US" sz="1400" dirty="0"/>
              <a:t>IT/EHR: Maintain reporting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C9E598-5741-B2EC-0526-C0979DC0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73152"/>
            <a:ext cx="8229600" cy="1143000"/>
          </a:xfrm>
        </p:spPr>
        <p:txBody>
          <a:bodyPr/>
          <a:lstStyle/>
          <a:p>
            <a:r>
              <a:rPr lang="en-US" dirty="0"/>
              <a:t>Overview of Roadmap Phases</a:t>
            </a:r>
          </a:p>
        </p:txBody>
      </p:sp>
    </p:spTree>
    <p:extLst>
      <p:ext uri="{BB962C8B-B14F-4D97-AF65-F5344CB8AC3E}">
        <p14:creationId xmlns:p14="http://schemas.microsoft.com/office/powerpoint/2010/main" val="4092913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2445D-C85A-C1B5-10BB-15725FE5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 Clinic Initiation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F22D8-2FAF-1BC2-8A88-04F3160CB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phase which follows lists the items that are needed for the buildout of an MAT clinic in the primary care setting.</a:t>
            </a:r>
          </a:p>
          <a:p>
            <a:r>
              <a:rPr lang="en-US" dirty="0"/>
              <a:t>This is to provide clarity and actionable items surrounding the logistics for the initial set up. </a:t>
            </a:r>
          </a:p>
          <a:p>
            <a:r>
              <a:rPr lang="en-US" dirty="0"/>
              <a:t>Each phase has a possible amount of time they may take. </a:t>
            </a:r>
          </a:p>
          <a:p>
            <a:r>
              <a:rPr lang="en-US" dirty="0"/>
              <a:t>Leadership buy in and engagement is needed at all phases. </a:t>
            </a:r>
          </a:p>
        </p:txBody>
      </p:sp>
    </p:spTree>
    <p:extLst>
      <p:ext uri="{BB962C8B-B14F-4D97-AF65-F5344CB8AC3E}">
        <p14:creationId xmlns:p14="http://schemas.microsoft.com/office/powerpoint/2010/main" val="181555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F2BFD-9074-A862-FCD6-24B709A6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Phase 1 – Strategic Alignment &amp; Program Design (Weeks 0–4)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A05A2-A506-7621-4C20-EBC78B337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81728"/>
          </a:xfrm>
        </p:spPr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Define scope, leadership, and compliance foundation before any clinical activity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Program Leadership &amp; Scope</a:t>
            </a:r>
            <a:endParaRPr lang="en-US" dirty="0"/>
          </a:p>
          <a:p>
            <a:pPr lvl="0"/>
            <a:r>
              <a:rPr lang="en-US" dirty="0"/>
              <a:t>Identify MAT clinical lead/champion  </a:t>
            </a:r>
          </a:p>
          <a:p>
            <a:pPr lvl="0"/>
            <a:r>
              <a:rPr lang="en-US" dirty="0"/>
              <a:t>Define service scope: </a:t>
            </a:r>
          </a:p>
          <a:p>
            <a:pPr lvl="1"/>
            <a:r>
              <a:rPr lang="en-US" dirty="0"/>
              <a:t>Induction vs. maintenance</a:t>
            </a:r>
          </a:p>
          <a:p>
            <a:pPr lvl="1"/>
            <a:r>
              <a:rPr lang="en-US" dirty="0"/>
              <a:t>Office vs. home induction  </a:t>
            </a:r>
          </a:p>
          <a:p>
            <a:pPr lvl="0"/>
            <a:r>
              <a:rPr lang="en-US" dirty="0"/>
              <a:t>Establish escalation pathways (psychiatry, IOP, OTP)</a:t>
            </a:r>
          </a:p>
          <a:p>
            <a:pPr marL="0" indent="0">
              <a:buNone/>
            </a:pPr>
            <a:r>
              <a:rPr lang="en-US" b="1" dirty="0"/>
              <a:t>Regulatory &amp; Policy Framework</a:t>
            </a:r>
            <a:endParaRPr lang="en-US" dirty="0"/>
          </a:p>
          <a:p>
            <a:pPr lvl="0"/>
            <a:r>
              <a:rPr lang="en-US" dirty="0"/>
              <a:t>Review Tennessee/state requirements and payer expectations  </a:t>
            </a:r>
          </a:p>
          <a:p>
            <a:pPr lvl="0"/>
            <a:r>
              <a:rPr lang="en-US" dirty="0"/>
              <a:t>Develop: </a:t>
            </a:r>
          </a:p>
          <a:p>
            <a:pPr lvl="1"/>
            <a:r>
              <a:rPr lang="en-US" dirty="0"/>
              <a:t>MAT policies &amp; procedures</a:t>
            </a:r>
          </a:p>
          <a:p>
            <a:pPr lvl="1"/>
            <a:r>
              <a:rPr lang="en-US" dirty="0"/>
              <a:t>Informed consent</a:t>
            </a:r>
          </a:p>
          <a:p>
            <a:pPr lvl="1"/>
            <a:r>
              <a:rPr lang="en-US" dirty="0"/>
              <a:t>SUD treatment agreement  </a:t>
            </a:r>
          </a:p>
          <a:p>
            <a:pPr lvl="0"/>
            <a:r>
              <a:rPr lang="en-US" dirty="0"/>
              <a:t>Ensure HIPAA + 42 CFR Part 2 compliance </a:t>
            </a:r>
          </a:p>
          <a:p>
            <a:pPr marL="0" indent="0">
              <a:buNone/>
            </a:pPr>
            <a:r>
              <a:rPr lang="en-US" b="1" dirty="0"/>
              <a:t>Governance Decisions</a:t>
            </a:r>
            <a:endParaRPr lang="en-US" dirty="0"/>
          </a:p>
          <a:p>
            <a:pPr lvl="0"/>
            <a:r>
              <a:rPr lang="en-US" dirty="0"/>
              <a:t>Confirm prescriber readiness (DEA/buprenorphine prescribing authority </a:t>
            </a:r>
          </a:p>
          <a:p>
            <a:pPr lvl="0"/>
            <a:r>
              <a:rPr lang="en-US" dirty="0"/>
              <a:t>Define non-punitive discharge/transfer policies  </a:t>
            </a:r>
          </a:p>
          <a:p>
            <a:pPr marL="0" indent="0"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0"/>
            <a:r>
              <a:rPr lang="en-US" dirty="0"/>
              <a:t>Approved MAT program charter</a:t>
            </a:r>
          </a:p>
          <a:p>
            <a:pPr lvl="0"/>
            <a:r>
              <a:rPr lang="en-US" dirty="0"/>
              <a:t>Signed policies/protocol drafts</a:t>
            </a:r>
          </a:p>
          <a:p>
            <a:pPr lvl="0"/>
            <a:r>
              <a:rPr lang="en-US" dirty="0"/>
              <a:t>Leadership “go/no-go” for build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465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8457-D220-F050-ACDB-14496A9B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Phase 2 – Clinical &amp; Operational Infrastructure Build (Weeks 4–8)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D2C3B-F589-9208-F81C-593CFD18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Build the standardized clinical and operational backbone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Clinical Protocol Development</a:t>
            </a:r>
            <a:endParaRPr lang="en-US" dirty="0"/>
          </a:p>
          <a:p>
            <a:pPr lvl="0"/>
            <a:r>
              <a:rPr lang="en-US" dirty="0"/>
              <a:t>OUD diagnosis &amp; assessment workflow  </a:t>
            </a:r>
          </a:p>
          <a:p>
            <a:pPr lvl="0"/>
            <a:r>
              <a:rPr lang="en-US" dirty="0"/>
              <a:t>Buprenorphine induction &amp; stabilization protocols </a:t>
            </a:r>
          </a:p>
          <a:p>
            <a:pPr lvl="0"/>
            <a:r>
              <a:rPr lang="en-US" dirty="0"/>
              <a:t>Standard responses for: </a:t>
            </a:r>
          </a:p>
          <a:p>
            <a:pPr lvl="1"/>
            <a:r>
              <a:rPr lang="en-US" dirty="0"/>
              <a:t>Missed visits</a:t>
            </a:r>
          </a:p>
          <a:p>
            <a:pPr lvl="1"/>
            <a:r>
              <a:rPr lang="en-US" dirty="0"/>
              <a:t>Relapse/UDS findings</a:t>
            </a:r>
          </a:p>
          <a:p>
            <a:pPr lvl="1"/>
            <a:r>
              <a:rPr lang="en-US" dirty="0"/>
              <a:t>Diversion concerns </a:t>
            </a:r>
          </a:p>
          <a:p>
            <a:pPr marL="0" indent="0">
              <a:buNone/>
            </a:pPr>
            <a:r>
              <a:rPr lang="en-US" b="1" dirty="0"/>
              <a:t>Monitoring &amp; Safety Systems</a:t>
            </a:r>
            <a:endParaRPr lang="en-US" dirty="0"/>
          </a:p>
          <a:p>
            <a:pPr lvl="0"/>
            <a:r>
              <a:rPr lang="en-US" dirty="0"/>
              <a:t>UDS protocols + standardized panels </a:t>
            </a:r>
          </a:p>
          <a:p>
            <a:pPr lvl="0"/>
            <a:r>
              <a:rPr lang="en-US" dirty="0"/>
              <a:t>PDMP workflow and documentation </a:t>
            </a:r>
          </a:p>
          <a:p>
            <a:pPr lvl="0"/>
            <a:r>
              <a:rPr lang="en-US" dirty="0"/>
              <a:t>Naloxone prescribing and education workflow  </a:t>
            </a:r>
          </a:p>
          <a:p>
            <a:pPr lvl="0"/>
            <a:r>
              <a:rPr lang="en-US" dirty="0"/>
              <a:t>Pill/film count processes </a:t>
            </a:r>
          </a:p>
          <a:p>
            <a:pPr marL="0" indent="0">
              <a:buNone/>
            </a:pPr>
            <a:r>
              <a:rPr lang="en-US" b="1" dirty="0"/>
              <a:t>Clinic Workflow Design</a:t>
            </a:r>
            <a:endParaRPr lang="en-US" dirty="0"/>
          </a:p>
          <a:p>
            <a:pPr lvl="0"/>
            <a:r>
              <a:rPr lang="en-US" dirty="0"/>
              <a:t>MAT visit types + longer induction slots  </a:t>
            </a:r>
          </a:p>
          <a:p>
            <a:pPr lvl="0"/>
            <a:r>
              <a:rPr lang="en-US" dirty="0"/>
              <a:t>No-show + urgent access protocols  </a:t>
            </a:r>
          </a:p>
          <a:p>
            <a:pPr lvl="0"/>
            <a:r>
              <a:rPr lang="en-US" dirty="0"/>
              <a:t>Pharmacy alignment </a:t>
            </a:r>
          </a:p>
          <a:p>
            <a:pPr marL="0" indent="0"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0"/>
            <a:r>
              <a:rPr lang="en-US" dirty="0"/>
              <a:t>Finalized clinical protocols</a:t>
            </a:r>
          </a:p>
          <a:p>
            <a:pPr lvl="0"/>
            <a:r>
              <a:rPr lang="en-US" dirty="0"/>
              <a:t>Standard workflows mapped (front desk → provider → follow-up)</a:t>
            </a:r>
          </a:p>
          <a:p>
            <a:r>
              <a:rPr lang="en-US" dirty="0"/>
              <a:t>Draft scheduling template</a:t>
            </a:r>
          </a:p>
        </p:txBody>
      </p:sp>
    </p:spTree>
    <p:extLst>
      <p:ext uri="{BB962C8B-B14F-4D97-AF65-F5344CB8AC3E}">
        <p14:creationId xmlns:p14="http://schemas.microsoft.com/office/powerpoint/2010/main" val="147215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F2D38-C57C-BBDA-442B-A74860D24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Phase 3 – EHR Build, Staffing, &amp; Training (Weeks 6–10, overlaps Phase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F2170-BEB2-15B0-7AC5-A4DE382DD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Operationalize workflows through people + technology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EHR Configuration</a:t>
            </a:r>
            <a:endParaRPr lang="en-US" dirty="0"/>
          </a:p>
          <a:p>
            <a:pPr lvl="0"/>
            <a:r>
              <a:rPr lang="en-US" dirty="0"/>
              <a:t>MAT intake and follow-up templates </a:t>
            </a:r>
          </a:p>
          <a:p>
            <a:pPr lvl="0"/>
            <a:r>
              <a:rPr lang="en-US" dirty="0"/>
              <a:t>Smart phrases (PDMP, UDS, counseling) </a:t>
            </a:r>
          </a:p>
          <a:p>
            <a:pPr lvl="0"/>
            <a:r>
              <a:rPr lang="en-US" dirty="0"/>
              <a:t>Tracking tools: </a:t>
            </a:r>
          </a:p>
          <a:p>
            <a:pPr lvl="1"/>
            <a:r>
              <a:rPr lang="en-US" dirty="0"/>
              <a:t>Missed visits</a:t>
            </a:r>
          </a:p>
          <a:p>
            <a:pPr lvl="1"/>
            <a:r>
              <a:rPr lang="en-US" dirty="0"/>
              <a:t>UDS results</a:t>
            </a:r>
          </a:p>
          <a:p>
            <a:pPr lvl="1"/>
            <a:r>
              <a:rPr lang="en-US" dirty="0"/>
              <a:t>Agreement compliance </a:t>
            </a:r>
            <a:r>
              <a:rPr lang="en-US" u="sng" dirty="0">
                <a:hlinkClick r:id="rId2"/>
              </a:rPr>
              <a:t>[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b="1" dirty="0"/>
              <a:t>Team Roles &amp; Staffing</a:t>
            </a:r>
            <a:endParaRPr lang="en-US" dirty="0"/>
          </a:p>
          <a:p>
            <a:pPr lvl="0"/>
            <a:r>
              <a:rPr lang="en-US" dirty="0"/>
              <a:t>Define: </a:t>
            </a:r>
          </a:p>
          <a:p>
            <a:pPr lvl="1"/>
            <a:r>
              <a:rPr lang="en-US" dirty="0"/>
              <a:t>Prescriber</a:t>
            </a:r>
          </a:p>
          <a:p>
            <a:pPr lvl="1"/>
            <a:r>
              <a:rPr lang="en-US" dirty="0"/>
              <a:t>Nursing/MA workflows</a:t>
            </a:r>
          </a:p>
          <a:p>
            <a:pPr lvl="1"/>
            <a:r>
              <a:rPr lang="en-US" dirty="0"/>
              <a:t>Behavioral health integration</a:t>
            </a:r>
          </a:p>
          <a:p>
            <a:pPr lvl="1"/>
            <a:r>
              <a:rPr lang="en-US" dirty="0"/>
              <a:t>Care coordination  </a:t>
            </a:r>
          </a:p>
          <a:p>
            <a:pPr marL="0" indent="0">
              <a:buNone/>
            </a:pPr>
            <a:r>
              <a:rPr lang="en-US" b="1" dirty="0"/>
              <a:t>Staff Training</a:t>
            </a:r>
            <a:endParaRPr lang="en-US" dirty="0"/>
          </a:p>
          <a:p>
            <a:pPr lvl="0"/>
            <a:r>
              <a:rPr lang="en-US" dirty="0"/>
              <a:t>Stigma-informed + trauma-informed care  </a:t>
            </a:r>
          </a:p>
          <a:p>
            <a:pPr lvl="0"/>
            <a:r>
              <a:rPr lang="en-US" dirty="0"/>
              <a:t>Motivational interviewing</a:t>
            </a:r>
          </a:p>
          <a:p>
            <a:pPr lvl="0"/>
            <a:r>
              <a:rPr lang="en-US" dirty="0"/>
              <a:t>De-escalation skills </a:t>
            </a:r>
          </a:p>
          <a:p>
            <a:pPr marL="0" indent="0"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0"/>
            <a:r>
              <a:rPr lang="en-US" dirty="0"/>
              <a:t>Fully built EHR toolkit</a:t>
            </a:r>
          </a:p>
          <a:p>
            <a:pPr lvl="0"/>
            <a:r>
              <a:rPr lang="en-US" dirty="0"/>
              <a:t>Staff competency validation complete (fits your training model)</a:t>
            </a:r>
          </a:p>
          <a:p>
            <a:pPr lvl="0"/>
            <a:r>
              <a:rPr lang="en-US" dirty="0"/>
              <a:t>Clear role-based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1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0519-58D6-4440-96B3-5148D6CC7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6A580-3E45-7A7D-5615-11224B9AE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Phase 4 – Community Integration &amp; Care Model Activation (Weeks 8–12)</a:t>
            </a:r>
            <a:br>
              <a:rPr lang="en-US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6F5A4-5ED4-6F1A-FD03-D036D8D24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Ensure patients can access the full continuum of care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Behavioral Health &amp; Referral Network</a:t>
            </a:r>
            <a:endParaRPr lang="en-US" dirty="0"/>
          </a:p>
          <a:p>
            <a:pPr lvl="0"/>
            <a:r>
              <a:rPr lang="en-US" dirty="0"/>
              <a:t>Counseling and therapy referral list  </a:t>
            </a:r>
          </a:p>
          <a:p>
            <a:pPr lvl="0"/>
            <a:r>
              <a:rPr lang="en-US" dirty="0"/>
              <a:t>Psychiatry access</a:t>
            </a:r>
          </a:p>
          <a:p>
            <a:pPr lvl="0"/>
            <a:r>
              <a:rPr lang="en-US" dirty="0"/>
              <a:t>Community recovery resources (NA, SMART, virtual options) </a:t>
            </a:r>
          </a:p>
          <a:p>
            <a:pPr marL="0" indent="0">
              <a:buNone/>
            </a:pPr>
            <a:r>
              <a:rPr lang="en-US" b="1" dirty="0"/>
              <a:t>Care Coordination Model</a:t>
            </a:r>
            <a:endParaRPr lang="en-US" dirty="0"/>
          </a:p>
          <a:p>
            <a:pPr lvl="0"/>
            <a:r>
              <a:rPr lang="en-US" dirty="0"/>
              <a:t>Warm handoff workflows  </a:t>
            </a:r>
          </a:p>
          <a:p>
            <a:pPr lvl="0"/>
            <a:r>
              <a:rPr lang="en-US" dirty="0"/>
              <a:t>Expectations for counseling engagement (supportive, not punitive)  </a:t>
            </a:r>
          </a:p>
          <a:p>
            <a:pPr marL="0" indent="0">
              <a:buNone/>
            </a:pPr>
            <a:r>
              <a:rPr lang="en-US" b="1" dirty="0"/>
              <a:t>Patient Education</a:t>
            </a:r>
            <a:endParaRPr lang="en-US" dirty="0"/>
          </a:p>
          <a:p>
            <a:pPr lvl="0"/>
            <a:r>
              <a:rPr lang="en-US" dirty="0"/>
              <a:t>MAT handbook + induction instructions  </a:t>
            </a:r>
          </a:p>
          <a:p>
            <a:pPr lvl="0"/>
            <a:r>
              <a:rPr lang="en-US" dirty="0"/>
              <a:t>Safe storage + overdose prevention education  </a:t>
            </a:r>
          </a:p>
          <a:p>
            <a:pPr lvl="0"/>
            <a:r>
              <a:rPr lang="en-US" dirty="0"/>
              <a:t>Clear communication pathways for urgent needs </a:t>
            </a:r>
          </a:p>
          <a:p>
            <a:pPr marL="0" indent="0"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0"/>
            <a:r>
              <a:rPr lang="en-US" dirty="0"/>
              <a:t>Active referral network</a:t>
            </a:r>
          </a:p>
          <a:p>
            <a:pPr lvl="0"/>
            <a:r>
              <a:rPr lang="en-US" dirty="0"/>
              <a:t>Patient-facing materials ready (ideal for your quick guides)</a:t>
            </a:r>
          </a:p>
          <a:p>
            <a:pPr lvl="0"/>
            <a:r>
              <a:rPr lang="en-US" dirty="0"/>
              <a:t>Care coordination workflows live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308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36E0E-633C-2F9E-5BCC-F0F829DA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24C10-78D9-7E25-DBE6-E139200B7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Phase 5 – Pilot Launch &amp; Quality Monitoring (Weeks 12+)</a:t>
            </a:r>
            <a:br>
              <a:rPr lang="en-US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A6B25-9F83-F5DD-D645-D38014461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Start small, monitor closely, and refine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Pilot Implementation</a:t>
            </a:r>
            <a:endParaRPr lang="en-US" dirty="0"/>
          </a:p>
          <a:p>
            <a:pPr lvl="0"/>
            <a:r>
              <a:rPr lang="en-US" dirty="0"/>
              <a:t>Limited patient cohort</a:t>
            </a:r>
          </a:p>
          <a:p>
            <a:pPr lvl="0"/>
            <a:r>
              <a:rPr lang="en-US" dirty="0"/>
              <a:t>Selected prescribers only</a:t>
            </a:r>
          </a:p>
          <a:p>
            <a:pPr lvl="0"/>
            <a:r>
              <a:rPr lang="en-US" dirty="0"/>
              <a:t>Increased visit cadence early</a:t>
            </a:r>
          </a:p>
          <a:p>
            <a:pPr marL="0" indent="0">
              <a:buNone/>
            </a:pPr>
            <a:r>
              <a:rPr lang="en-US" b="1" dirty="0"/>
              <a:t>Quality &amp; Safety Monitoring</a:t>
            </a:r>
            <a:endParaRPr lang="en-US" dirty="0"/>
          </a:p>
          <a:p>
            <a:pPr lvl="0"/>
            <a:r>
              <a:rPr lang="en-US" dirty="0"/>
              <a:t>Metrics: </a:t>
            </a:r>
          </a:p>
          <a:p>
            <a:pPr lvl="1"/>
            <a:r>
              <a:rPr lang="en-US" dirty="0"/>
              <a:t>Retention rates</a:t>
            </a:r>
          </a:p>
          <a:p>
            <a:pPr lvl="1"/>
            <a:r>
              <a:rPr lang="en-US" dirty="0"/>
              <a:t>UDS adherence</a:t>
            </a:r>
          </a:p>
          <a:p>
            <a:pPr lvl="1"/>
            <a:r>
              <a:rPr lang="en-US" dirty="0"/>
              <a:t>Overdose prevention measures </a:t>
            </a:r>
          </a:p>
          <a:p>
            <a:pPr lvl="0"/>
            <a:r>
              <a:rPr lang="en-US" dirty="0"/>
              <a:t>Adverse event reporting  </a:t>
            </a:r>
          </a:p>
          <a:p>
            <a:pPr lvl="0"/>
            <a:r>
              <a:rPr lang="en-US" dirty="0"/>
              <a:t>Chart review + QI cycles  </a:t>
            </a:r>
          </a:p>
          <a:p>
            <a:pPr marL="0" indent="0">
              <a:buNone/>
            </a:pPr>
            <a:r>
              <a:rPr lang="en-US" b="1" dirty="0"/>
              <a:t>Continuous Improvement</a:t>
            </a:r>
            <a:endParaRPr lang="en-US" dirty="0"/>
          </a:p>
          <a:p>
            <a:pPr lvl="0"/>
            <a:r>
              <a:rPr lang="en-US" dirty="0"/>
              <a:t>Weekly/biweekly case reviews</a:t>
            </a:r>
          </a:p>
          <a:p>
            <a:pPr lvl="0"/>
            <a:r>
              <a:rPr lang="en-US" dirty="0"/>
              <a:t>Workflow adjustments based on frontline feedback</a:t>
            </a:r>
          </a:p>
          <a:p>
            <a:pPr marL="0" indent="0">
              <a:buNone/>
            </a:pPr>
            <a:r>
              <a:rPr lang="en-US" b="1" dirty="0"/>
              <a:t>Deliverables</a:t>
            </a:r>
            <a:endParaRPr lang="en-US" dirty="0"/>
          </a:p>
          <a:p>
            <a:pPr lvl="0"/>
            <a:r>
              <a:rPr lang="en-US" dirty="0"/>
              <a:t>Pilot performance dashboard</a:t>
            </a:r>
          </a:p>
          <a:p>
            <a:pPr lvl="0"/>
            <a:r>
              <a:rPr lang="en-US" dirty="0"/>
              <a:t>QI action plan</a:t>
            </a:r>
          </a:p>
          <a:p>
            <a:pPr lvl="0"/>
            <a:r>
              <a:rPr lang="en-US" dirty="0"/>
              <a:t>Decision to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00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594DD-CFC6-66DD-4DC1-2130CDC81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C130F-320C-987A-0B7B-DBB862F0C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/>
              <a:t>Phase 6 – Full Program Scale &amp; Optimization</a:t>
            </a:r>
            <a:br>
              <a:rPr lang="en-US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20E1F-B259-D54F-0FAC-8D92A5813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Goal:</a:t>
            </a:r>
            <a:r>
              <a:rPr lang="en-US" dirty="0"/>
              <a:t> Expand access and standardize across clinics (aligned with your system-level work)</a:t>
            </a:r>
          </a:p>
          <a:p>
            <a:pPr marL="0" indent="0">
              <a:buNone/>
            </a:pPr>
            <a:r>
              <a:rPr lang="en-US" b="1" dirty="0"/>
              <a:t>Key Focus Areas</a:t>
            </a:r>
            <a:endParaRPr lang="en-US" dirty="0"/>
          </a:p>
          <a:p>
            <a:pPr lvl="0"/>
            <a:r>
              <a:rPr lang="en-US" dirty="0"/>
              <a:t>Expand prescriber pool</a:t>
            </a:r>
          </a:p>
          <a:p>
            <a:pPr lvl="0"/>
            <a:r>
              <a:rPr lang="en-US" dirty="0"/>
              <a:t>Increase MAT appointment capacity</a:t>
            </a:r>
          </a:p>
          <a:p>
            <a:pPr lvl="0"/>
            <a:r>
              <a:rPr lang="en-US" dirty="0"/>
              <a:t>Standardize across sites (if CMG-wide)</a:t>
            </a:r>
          </a:p>
          <a:p>
            <a:pPr lvl="0"/>
            <a:r>
              <a:rPr lang="en-US" dirty="0"/>
              <a:t>Ongoing staff training + refreshers</a:t>
            </a:r>
          </a:p>
          <a:p>
            <a:pPr lvl="0"/>
            <a:r>
              <a:rPr lang="en-US" dirty="0"/>
              <a:t>Integration into routine primary care workflows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992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36AC4-9CED-11E3-4DC7-FA9EABD1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70ACF-62A5-6303-85AC-0D0B7FC47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MAT in Primary Care Readiness Checklist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C25DDB3-9D7E-DC08-6AEF-54EFB24B2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914086"/>
            <a:ext cx="7902426" cy="555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34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4D8B7-1601-D959-45C5-2E922010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8C271-32AC-50C7-0D5F-AE74F2C8A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MAT in Primary Care Readiness Checklist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3586A8-CFC3-B2E5-9611-5A40E334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977646"/>
            <a:ext cx="8037576" cy="564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22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7CCBEC19C714E9824432C6A20C3C7" ma:contentTypeVersion="11" ma:contentTypeDescription="Create a new document." ma:contentTypeScope="" ma:versionID="fa0a2061db951ddf381abe8befd02f08">
  <xsd:schema xmlns:xsd="http://www.w3.org/2001/XMLSchema" xmlns:xs="http://www.w3.org/2001/XMLSchema" xmlns:p="http://schemas.microsoft.com/office/2006/metadata/properties" xmlns:ns3="32d4431f-3063-456f-bed5-c6f7660ad44d" targetNamespace="http://schemas.microsoft.com/office/2006/metadata/properties" ma:root="true" ma:fieldsID="7381e54db1705bb0ddc4b15daa48205d" ns3:_="">
    <xsd:import namespace="32d4431f-3063-456f-bed5-c6f7660ad44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d4431f-3063-456f-bed5-c6f7660ad44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2d4431f-3063-456f-bed5-c6f7660ad44d" xsi:nil="true"/>
  </documentManagement>
</p:properties>
</file>

<file path=customXml/itemProps1.xml><?xml version="1.0" encoding="utf-8"?>
<ds:datastoreItem xmlns:ds="http://schemas.openxmlformats.org/officeDocument/2006/customXml" ds:itemID="{2995BD8B-202F-4892-921E-911706F543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d4431f-3063-456f-bed5-c6f7660ad4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79E24-BF1B-4013-95D7-21C590DFC94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F7D2E9-3743-42F2-9621-790ACADCA1D0}">
  <ds:schemaRefs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2d4431f-3063-456f-bed5-c6f7660ad44d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965</Words>
  <Application>Microsoft Office PowerPoint</Application>
  <PresentationFormat>On-screen Show (4:3)</PresentationFormat>
  <Paragraphs>230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Overview of Roadmap Phases</vt:lpstr>
      <vt:lpstr>MAT Clinic Initiation</vt:lpstr>
      <vt:lpstr>Phase 1 – Strategic Alignment &amp; Program Design (Weeks 0–4) </vt:lpstr>
      <vt:lpstr>Phase 2 – Clinical &amp; Operational Infrastructure Build (Weeks 4–8)</vt:lpstr>
      <vt:lpstr>Phase 3 – EHR Build, Staffing, &amp; Training (Weeks 6–10, overlaps Phase 2)</vt:lpstr>
      <vt:lpstr>Phase 4 – Community Integration &amp; Care Model Activation (Weeks 8–12) </vt:lpstr>
      <vt:lpstr>Phase 5 – Pilot Launch &amp; Quality Monitoring (Weeks 12+) </vt:lpstr>
      <vt:lpstr>Phase 6 – Full Program Scale &amp; Optimization </vt:lpstr>
      <vt:lpstr>MAT in Primary Care Readiness Checklist </vt:lpstr>
      <vt:lpstr>MAT in Primary Care Readiness Checklist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Brooks, Alicia M</dc:creator>
  <cp:keywords/>
  <dc:description>generated using python-pptx</dc:description>
  <cp:lastModifiedBy>Brooks, Alicia M</cp:lastModifiedBy>
  <cp:revision>6</cp:revision>
  <dcterms:created xsi:type="dcterms:W3CDTF">2013-01-27T09:14:16Z</dcterms:created>
  <dcterms:modified xsi:type="dcterms:W3CDTF">2026-05-27T17:28:12Z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0x0101006667CCBEC19C714E9824432C6A20C3C7</vt:lpwstr>
  </property>
</Properties>
</file>